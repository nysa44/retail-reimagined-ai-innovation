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Retailers win when customers can find the right product, trust availability, and move between channels without friction. This deck focuses on three practical AI applications. All value claims are hypotheses to test against a retailer's own baseline.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companion Python demo implements a transparent content-based recommender. The mock product panel is illustrative UI. Measure conversion or discovery success against a holdout, and guardrail with returns, opt-outs and diversity.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Python companion forecasts demand with a transparent baseline and evaluates a naive holdout benchmark. This is a proof of concept, not a production time-series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customer journey document maps data needs and fallbacks. Automation should communicate early, explain choices and preserve the customer's ability to select a new promise, pickup, alternative or cancellation.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a disciplined pilot. Establish baseline and governance first, prototype second, run a controlled cohort third, and decide based on incrementality. Select targets from the retailer's own baseline rather than promising generic uplift.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03A"/>
        </a:solidFill>
        <a:effectLst/>
      </p:bgPr>
    </p:bg>
    <p:spTree>
      <p:nvGrpSpPr>
        <p:cNvPr id="1" name=""/>
        <p:cNvGrpSpPr/>
        <p:nvPr/>
      </p:nvGrpSpPr>
      <p:grpSpPr/>
      <p:sp>
        <p:nvSpPr>
          <p:cNvPr id="2" name="TextBox 1"/>
          <p:cNvSpPr txBox="1"/>
          <p:nvPr/>
        </p:nvSpPr>
        <p:spPr>
          <a:xfrm>
            <a:off x="566928" y="320040"/>
            <a:ext cx="6400800" cy="256032"/>
          </a:xfrm>
          <a:prstGeom prst="rect">
            <a:avLst/>
          </a:prstGeom>
          <a:noFill/>
        </p:spPr>
        <p:txBody>
          <a:bodyPr wrap="square">
            <a:spAutoFit/>
          </a:bodyPr>
          <a:lstStyle/>
          <a:p>
            <a:pPr>
              <a:defRPr sz="900" b="1">
                <a:solidFill>
                  <a:srgbClr val="FFFFFF"/>
                </a:solidFill>
                <a:latin typeface="Aptos"/>
              </a:defRPr>
            </a:pPr>
            <a:r>
              <a:t>RETAIL REIMAGINED / STRATEGY BRIEF</a:t>
            </a:r>
          </a:p>
        </p:txBody>
      </p:sp>
      <p:sp>
        <p:nvSpPr>
          <p:cNvPr id="3" name="TextBox 2"/>
          <p:cNvSpPr txBox="1"/>
          <p:nvPr/>
        </p:nvSpPr>
        <p:spPr>
          <a:xfrm>
            <a:off x="10972800" y="310896"/>
            <a:ext cx="640080" cy="256032"/>
          </a:xfrm>
          <a:prstGeom prst="rect">
            <a:avLst/>
          </a:prstGeom>
          <a:noFill/>
        </p:spPr>
        <p:txBody>
          <a:bodyPr wrap="square">
            <a:spAutoFit/>
          </a:bodyPr>
          <a:lstStyle/>
          <a:p>
            <a:pPr algn="r">
              <a:defRPr sz="900" b="1">
                <a:solidFill>
                  <a:srgbClr val="FFFFFF"/>
                </a:solidFill>
                <a:latin typeface="Aptos"/>
              </a:defRPr>
            </a:pPr>
            <a:r>
              <a:t>01 / 05</a:t>
            </a:r>
          </a:p>
        </p:txBody>
      </p:sp>
      <p:sp>
        <p:nvSpPr>
          <p:cNvPr id="4" name="Rectangle 3"/>
          <p:cNvSpPr/>
          <p:nvPr/>
        </p:nvSpPr>
        <p:spPr>
          <a:xfrm>
            <a:off x="566928" y="694944"/>
            <a:ext cx="502920" cy="50292"/>
          </a:xfrm>
          <a:prstGeom prst="rect">
            <a:avLst/>
          </a:prstGeom>
          <a:solidFill>
            <a:srgbClr val="C2E8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52360" y="1234440"/>
            <a:ext cx="3931920" cy="4434840"/>
          </a:xfrm>
          <a:prstGeom prst="roundRect">
            <a:avLst/>
          </a:prstGeom>
          <a:solidFill>
            <a:srgbClr val="20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909560" y="1691640"/>
            <a:ext cx="3017520" cy="3520440"/>
          </a:xfrm>
          <a:prstGeom prst="roundRect">
            <a:avLst/>
          </a:prstGeom>
          <a:solidFill>
            <a:srgbClr val="2B37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0" y="2103120"/>
            <a:ext cx="2377440" cy="658368"/>
          </a:xfrm>
          <a:prstGeom prst="roundRect">
            <a:avLst/>
          </a:prstGeom>
          <a:solidFill>
            <a:srgbClr val="685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30768" y="2276856"/>
            <a:ext cx="2011680" cy="274320"/>
          </a:xfrm>
          <a:prstGeom prst="rect">
            <a:avLst/>
          </a:prstGeom>
          <a:noFill/>
        </p:spPr>
        <p:txBody>
          <a:bodyPr wrap="square">
            <a:spAutoFit/>
          </a:bodyPr>
          <a:lstStyle/>
          <a:p>
            <a:pPr>
              <a:defRPr sz="1100" b="1">
                <a:solidFill>
                  <a:srgbClr val="FFFFFF"/>
                </a:solidFill>
                <a:latin typeface="Aptos"/>
              </a:defRPr>
            </a:pPr>
            <a:r>
              <a:t>DISCOVER</a:t>
            </a:r>
          </a:p>
        </p:txBody>
      </p:sp>
      <p:sp>
        <p:nvSpPr>
          <p:cNvPr id="9" name="Rounded Rectangle 8"/>
          <p:cNvSpPr/>
          <p:nvPr/>
        </p:nvSpPr>
        <p:spPr>
          <a:xfrm>
            <a:off x="8229600" y="2944368"/>
            <a:ext cx="2377440" cy="658368"/>
          </a:xfrm>
          <a:prstGeom prst="roundRect">
            <a:avLst/>
          </a:prstGeom>
          <a:solidFill>
            <a:srgbClr val="45B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30768" y="3118104"/>
            <a:ext cx="2011680" cy="274320"/>
          </a:xfrm>
          <a:prstGeom prst="rect">
            <a:avLst/>
          </a:prstGeom>
          <a:noFill/>
        </p:spPr>
        <p:txBody>
          <a:bodyPr wrap="square">
            <a:spAutoFit/>
          </a:bodyPr>
          <a:lstStyle/>
          <a:p>
            <a:pPr>
              <a:defRPr sz="1100" b="1">
                <a:solidFill>
                  <a:srgbClr val="16203A"/>
                </a:solidFill>
                <a:latin typeface="Aptos"/>
              </a:defRPr>
            </a:pPr>
            <a:r>
              <a:t>FULFIL</a:t>
            </a:r>
          </a:p>
        </p:txBody>
      </p:sp>
      <p:sp>
        <p:nvSpPr>
          <p:cNvPr id="11" name="Rounded Rectangle 10"/>
          <p:cNvSpPr/>
          <p:nvPr/>
        </p:nvSpPr>
        <p:spPr>
          <a:xfrm>
            <a:off x="8229600" y="3785615"/>
            <a:ext cx="2377440" cy="658368"/>
          </a:xfrm>
          <a:prstGeom prst="roundRect">
            <a:avLst/>
          </a:prstGeom>
          <a:solidFill>
            <a:srgbClr val="C2E8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30768" y="3959352"/>
            <a:ext cx="2011680" cy="274320"/>
          </a:xfrm>
          <a:prstGeom prst="rect">
            <a:avLst/>
          </a:prstGeom>
          <a:noFill/>
        </p:spPr>
        <p:txBody>
          <a:bodyPr wrap="square">
            <a:spAutoFit/>
          </a:bodyPr>
          <a:lstStyle/>
          <a:p>
            <a:pPr>
              <a:defRPr sz="1100" b="1">
                <a:solidFill>
                  <a:srgbClr val="16203A"/>
                </a:solidFill>
                <a:latin typeface="Aptos"/>
              </a:defRPr>
            </a:pPr>
            <a:r>
              <a:t>DELIGHT</a:t>
            </a:r>
          </a:p>
        </p:txBody>
      </p:sp>
      <p:sp>
        <p:nvSpPr>
          <p:cNvPr id="13" name="TextBox 12"/>
          <p:cNvSpPr txBox="1"/>
          <p:nvPr/>
        </p:nvSpPr>
        <p:spPr>
          <a:xfrm>
            <a:off x="731520" y="1417320"/>
            <a:ext cx="5943600" cy="365760"/>
          </a:xfrm>
          <a:prstGeom prst="rect">
            <a:avLst/>
          </a:prstGeom>
          <a:noFill/>
        </p:spPr>
        <p:txBody>
          <a:bodyPr wrap="square">
            <a:spAutoFit/>
          </a:bodyPr>
          <a:lstStyle/>
          <a:p>
            <a:pPr>
              <a:defRPr sz="1100" b="1">
                <a:solidFill>
                  <a:srgbClr val="C2E872"/>
                </a:solidFill>
                <a:latin typeface="Aptos"/>
              </a:defRPr>
            </a:pPr>
            <a:r>
              <a:t>AI INNOVATION &amp; CUSTOMER EXPERIENCE</a:t>
            </a:r>
          </a:p>
        </p:txBody>
      </p:sp>
      <p:sp>
        <p:nvSpPr>
          <p:cNvPr id="14" name="TextBox 13"/>
          <p:cNvSpPr txBox="1"/>
          <p:nvPr/>
        </p:nvSpPr>
        <p:spPr>
          <a:xfrm>
            <a:off x="731520" y="1920240"/>
            <a:ext cx="6126480" cy="1737360"/>
          </a:xfrm>
          <a:prstGeom prst="rect">
            <a:avLst/>
          </a:prstGeom>
          <a:noFill/>
        </p:spPr>
        <p:txBody>
          <a:bodyPr wrap="square">
            <a:spAutoFit/>
          </a:bodyPr>
          <a:lstStyle/>
          <a:p>
            <a:pPr>
              <a:defRPr sz="4400" b="1">
                <a:solidFill>
                  <a:srgbClr val="FFFFFF"/>
                </a:solidFill>
                <a:latin typeface="Aptos"/>
              </a:defRPr>
            </a:pPr>
            <a:r>
              <a:t>Retail,</a:t>
            </a:r>
          </a:p>
          <a:p>
            <a:pPr>
              <a:defRPr sz="4400" b="1">
                <a:solidFill>
                  <a:srgbClr val="FFFFFF"/>
                </a:solidFill>
                <a:latin typeface="Aptos"/>
              </a:defRPr>
            </a:pPr>
            <a:r>
              <a:t>reimagined.</a:t>
            </a:r>
          </a:p>
        </p:txBody>
      </p:sp>
      <p:sp>
        <p:nvSpPr>
          <p:cNvPr id="15" name="TextBox 14"/>
          <p:cNvSpPr txBox="1"/>
          <p:nvPr/>
        </p:nvSpPr>
        <p:spPr>
          <a:xfrm>
            <a:off x="758952" y="4069080"/>
            <a:ext cx="5760720" cy="731520"/>
          </a:xfrm>
          <a:prstGeom prst="rect">
            <a:avLst/>
          </a:prstGeom>
          <a:noFill/>
        </p:spPr>
        <p:txBody>
          <a:bodyPr wrap="square">
            <a:spAutoFit/>
          </a:bodyPr>
          <a:lstStyle/>
          <a:p>
            <a:pPr>
              <a:defRPr sz="1900" b="0">
                <a:solidFill>
                  <a:srgbClr val="C9D0E2"/>
                </a:solidFill>
                <a:latin typeface="Aptos"/>
              </a:defRPr>
            </a:pPr>
            <a:r>
              <a:t>Three practical AI applications connecting relevance, availability and seamless service.</a:t>
            </a:r>
          </a:p>
        </p:txBody>
      </p:sp>
      <p:sp>
        <p:nvSpPr>
          <p:cNvPr id="16" name="Rounded Rectangle 15"/>
          <p:cNvSpPr/>
          <p:nvPr/>
        </p:nvSpPr>
        <p:spPr>
          <a:xfrm>
            <a:off x="749808" y="5212080"/>
            <a:ext cx="2057400" cy="438912"/>
          </a:xfrm>
          <a:prstGeom prst="roundRect">
            <a:avLst/>
          </a:prstGeom>
          <a:solidFill>
            <a:srgbClr val="2B37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330952"/>
            <a:ext cx="1783080" cy="182880"/>
          </a:xfrm>
          <a:prstGeom prst="rect">
            <a:avLst/>
          </a:prstGeom>
          <a:noFill/>
        </p:spPr>
        <p:txBody>
          <a:bodyPr wrap="square">
            <a:spAutoFit/>
          </a:bodyPr>
          <a:lstStyle/>
          <a:p>
            <a:pPr>
              <a:defRPr sz="800" b="1">
                <a:solidFill>
                  <a:srgbClr val="FFFFFF"/>
                </a:solidFill>
                <a:latin typeface="Aptos"/>
              </a:defRPr>
            </a:pPr>
            <a:r>
              <a:t>5-SLIDE STRATEGY CONCEPT</a:t>
            </a:r>
          </a:p>
        </p:txBody>
      </p:sp>
      <p:sp>
        <p:nvSpPr>
          <p:cNvPr id="18" name="TextBox 17"/>
          <p:cNvSpPr txBox="1"/>
          <p:nvPr/>
        </p:nvSpPr>
        <p:spPr>
          <a:xfrm>
            <a:off x="566928" y="6510528"/>
            <a:ext cx="10972800" cy="164592"/>
          </a:xfrm>
          <a:prstGeom prst="rect">
            <a:avLst/>
          </a:prstGeom>
          <a:noFill/>
        </p:spPr>
        <p:txBody>
          <a:bodyPr wrap="square">
            <a:spAutoFit/>
          </a:bodyPr>
          <a:lstStyle/>
          <a:p>
            <a:pPr>
              <a:defRPr sz="700" b="1">
                <a:solidFill>
                  <a:srgbClr val="AEB5C9"/>
                </a:solidFill>
                <a:latin typeface="Aptos"/>
              </a:defRPr>
            </a:pPr>
            <a:r>
              <a:t>STRATEGY CONCEPT • SYNTHETIC DEMO • PILOT HYPOTHESES REQUIRE VALIDATION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TextBox 1"/>
          <p:cNvSpPr txBox="1"/>
          <p:nvPr/>
        </p:nvSpPr>
        <p:spPr>
          <a:xfrm>
            <a:off x="566928" y="320040"/>
            <a:ext cx="6400800" cy="256032"/>
          </a:xfrm>
          <a:prstGeom prst="rect">
            <a:avLst/>
          </a:prstGeom>
          <a:noFill/>
        </p:spPr>
        <p:txBody>
          <a:bodyPr wrap="square">
            <a:spAutoFit/>
          </a:bodyPr>
          <a:lstStyle/>
          <a:p>
            <a:pPr>
              <a:defRPr sz="900" b="1">
                <a:solidFill>
                  <a:srgbClr val="67718B"/>
                </a:solidFill>
                <a:latin typeface="Aptos"/>
              </a:defRPr>
            </a:pPr>
            <a:r>
              <a:t>RETAIL REIMAGINED / PERSONALISATION</a:t>
            </a:r>
          </a:p>
        </p:txBody>
      </p:sp>
      <p:sp>
        <p:nvSpPr>
          <p:cNvPr id="3" name="TextBox 2"/>
          <p:cNvSpPr txBox="1"/>
          <p:nvPr/>
        </p:nvSpPr>
        <p:spPr>
          <a:xfrm>
            <a:off x="10972800" y="310896"/>
            <a:ext cx="640080" cy="256032"/>
          </a:xfrm>
          <a:prstGeom prst="rect">
            <a:avLst/>
          </a:prstGeom>
          <a:noFill/>
        </p:spPr>
        <p:txBody>
          <a:bodyPr wrap="square">
            <a:spAutoFit/>
          </a:bodyPr>
          <a:lstStyle/>
          <a:p>
            <a:pPr algn="r">
              <a:defRPr sz="900" b="1">
                <a:solidFill>
                  <a:srgbClr val="67718B"/>
                </a:solidFill>
                <a:latin typeface="Aptos"/>
              </a:defRPr>
            </a:pPr>
            <a:r>
              <a:t>02 / 05</a:t>
            </a:r>
          </a:p>
        </p:txBody>
      </p:sp>
      <p:sp>
        <p:nvSpPr>
          <p:cNvPr id="4" name="Rectangle 3"/>
          <p:cNvSpPr/>
          <p:nvPr/>
        </p:nvSpPr>
        <p:spPr>
          <a:xfrm>
            <a:off x="566928" y="694944"/>
            <a:ext cx="502920" cy="50292"/>
          </a:xfrm>
          <a:prstGeom prst="rect">
            <a:avLst/>
          </a:prstGeom>
          <a:solidFill>
            <a:srgbClr val="685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60120"/>
            <a:ext cx="6766560" cy="502920"/>
          </a:xfrm>
          <a:prstGeom prst="rect">
            <a:avLst/>
          </a:prstGeom>
          <a:noFill/>
        </p:spPr>
        <p:txBody>
          <a:bodyPr wrap="square">
            <a:spAutoFit/>
          </a:bodyPr>
          <a:lstStyle/>
          <a:p>
            <a:pPr>
              <a:defRPr sz="2700" b="1">
                <a:solidFill>
                  <a:srgbClr val="16203A"/>
                </a:solidFill>
                <a:latin typeface="Aptos"/>
              </a:defRPr>
            </a:pPr>
            <a:r>
              <a:t>Make discovery feel personal—not invasive.</a:t>
            </a:r>
          </a:p>
        </p:txBody>
      </p:sp>
      <p:sp>
        <p:nvSpPr>
          <p:cNvPr id="6" name="TextBox 5"/>
          <p:cNvSpPr txBox="1"/>
          <p:nvPr/>
        </p:nvSpPr>
        <p:spPr>
          <a:xfrm>
            <a:off x="658368" y="1572768"/>
            <a:ext cx="6766560" cy="411480"/>
          </a:xfrm>
          <a:prstGeom prst="rect">
            <a:avLst/>
          </a:prstGeom>
          <a:noFill/>
        </p:spPr>
        <p:txBody>
          <a:bodyPr wrap="square">
            <a:spAutoFit/>
          </a:bodyPr>
          <a:lstStyle/>
          <a:p>
            <a:pPr>
              <a:defRPr sz="1300" b="0">
                <a:solidFill>
                  <a:srgbClr val="67718B"/>
                </a:solidFill>
                <a:latin typeface="Aptos"/>
              </a:defRPr>
            </a:pPr>
            <a:r>
              <a:t>AI can rank relevant products and explain why they fit a customer's needs.</a:t>
            </a:r>
          </a:p>
        </p:txBody>
      </p:sp>
      <p:sp>
        <p:nvSpPr>
          <p:cNvPr id="7" name="Rounded Rectangle 6"/>
          <p:cNvSpPr/>
          <p:nvPr/>
        </p:nvSpPr>
        <p:spPr>
          <a:xfrm>
            <a:off x="658368" y="2331720"/>
            <a:ext cx="6400800" cy="8595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2505456"/>
            <a:ext cx="438912" cy="438912"/>
          </a:xfrm>
          <a:prstGeom prst="roundRect">
            <a:avLst/>
          </a:prstGeom>
          <a:solidFill>
            <a:srgbClr val="E7E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15184"/>
            <a:ext cx="274320" cy="182880"/>
          </a:xfrm>
          <a:prstGeom prst="rect">
            <a:avLst/>
          </a:prstGeom>
          <a:noFill/>
        </p:spPr>
        <p:txBody>
          <a:bodyPr wrap="square">
            <a:spAutoFit/>
          </a:bodyPr>
          <a:lstStyle/>
          <a:p>
            <a:pPr>
              <a:defRPr sz="1000" b="1">
                <a:solidFill>
                  <a:srgbClr val="6853EB"/>
                </a:solidFill>
                <a:latin typeface="Aptos"/>
              </a:defRPr>
            </a:pPr>
            <a:r>
              <a:t>01</a:t>
            </a:r>
          </a:p>
        </p:txBody>
      </p:sp>
      <p:sp>
        <p:nvSpPr>
          <p:cNvPr id="10" name="TextBox 9"/>
          <p:cNvSpPr txBox="1"/>
          <p:nvPr/>
        </p:nvSpPr>
        <p:spPr>
          <a:xfrm>
            <a:off x="1444752" y="2487168"/>
            <a:ext cx="1920240" cy="228600"/>
          </a:xfrm>
          <a:prstGeom prst="rect">
            <a:avLst/>
          </a:prstGeom>
          <a:noFill/>
        </p:spPr>
        <p:txBody>
          <a:bodyPr wrap="square">
            <a:spAutoFit/>
          </a:bodyPr>
          <a:lstStyle/>
          <a:p>
            <a:pPr>
              <a:defRPr sz="1400" b="1">
                <a:solidFill>
                  <a:srgbClr val="16203A"/>
                </a:solidFill>
                <a:latin typeface="Aptos"/>
              </a:defRPr>
            </a:pPr>
            <a:r>
              <a:t>Understand intent</a:t>
            </a:r>
          </a:p>
        </p:txBody>
      </p:sp>
      <p:sp>
        <p:nvSpPr>
          <p:cNvPr id="11" name="TextBox 10"/>
          <p:cNvSpPr txBox="1"/>
          <p:nvPr/>
        </p:nvSpPr>
        <p:spPr>
          <a:xfrm>
            <a:off x="3337560" y="2487168"/>
            <a:ext cx="3429000" cy="475488"/>
          </a:xfrm>
          <a:prstGeom prst="rect">
            <a:avLst/>
          </a:prstGeom>
          <a:noFill/>
        </p:spPr>
        <p:txBody>
          <a:bodyPr wrap="square">
            <a:spAutoFit/>
          </a:bodyPr>
          <a:lstStyle/>
          <a:p>
            <a:pPr>
              <a:defRPr sz="1000" b="0">
                <a:solidFill>
                  <a:srgbClr val="67718B"/>
                </a:solidFill>
                <a:latin typeface="Aptos"/>
              </a:defRPr>
            </a:pPr>
            <a:r>
              <a:t>Use consented context, product attributes and session signals.</a:t>
            </a:r>
          </a:p>
        </p:txBody>
      </p:sp>
      <p:sp>
        <p:nvSpPr>
          <p:cNvPr id="12" name="Rounded Rectangle 11"/>
          <p:cNvSpPr/>
          <p:nvPr/>
        </p:nvSpPr>
        <p:spPr>
          <a:xfrm>
            <a:off x="658368" y="3410711"/>
            <a:ext cx="6400800" cy="8595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60" y="3584447"/>
            <a:ext cx="438912" cy="438912"/>
          </a:xfrm>
          <a:prstGeom prst="roundRect">
            <a:avLst/>
          </a:prstGeom>
          <a:solidFill>
            <a:srgbClr val="E7E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694175"/>
            <a:ext cx="274320" cy="182880"/>
          </a:xfrm>
          <a:prstGeom prst="rect">
            <a:avLst/>
          </a:prstGeom>
          <a:noFill/>
        </p:spPr>
        <p:txBody>
          <a:bodyPr wrap="square">
            <a:spAutoFit/>
          </a:bodyPr>
          <a:lstStyle/>
          <a:p>
            <a:pPr>
              <a:defRPr sz="1000" b="1">
                <a:solidFill>
                  <a:srgbClr val="6853EB"/>
                </a:solidFill>
                <a:latin typeface="Aptos"/>
              </a:defRPr>
            </a:pPr>
            <a:r>
              <a:t>02</a:t>
            </a:r>
          </a:p>
        </p:txBody>
      </p:sp>
      <p:sp>
        <p:nvSpPr>
          <p:cNvPr id="15" name="TextBox 14"/>
          <p:cNvSpPr txBox="1"/>
          <p:nvPr/>
        </p:nvSpPr>
        <p:spPr>
          <a:xfrm>
            <a:off x="1444752" y="3566159"/>
            <a:ext cx="1920240" cy="228600"/>
          </a:xfrm>
          <a:prstGeom prst="rect">
            <a:avLst/>
          </a:prstGeom>
          <a:noFill/>
        </p:spPr>
        <p:txBody>
          <a:bodyPr wrap="square">
            <a:spAutoFit/>
          </a:bodyPr>
          <a:lstStyle/>
          <a:p>
            <a:pPr>
              <a:defRPr sz="1400" b="1">
                <a:solidFill>
                  <a:srgbClr val="16203A"/>
                </a:solidFill>
                <a:latin typeface="Aptos"/>
              </a:defRPr>
            </a:pPr>
            <a:r>
              <a:t>Rank with purpose</a:t>
            </a:r>
          </a:p>
        </p:txBody>
      </p:sp>
      <p:sp>
        <p:nvSpPr>
          <p:cNvPr id="16" name="TextBox 15"/>
          <p:cNvSpPr txBox="1"/>
          <p:nvPr/>
        </p:nvSpPr>
        <p:spPr>
          <a:xfrm>
            <a:off x="3337560" y="3566159"/>
            <a:ext cx="3429000" cy="475488"/>
          </a:xfrm>
          <a:prstGeom prst="rect">
            <a:avLst/>
          </a:prstGeom>
          <a:noFill/>
        </p:spPr>
        <p:txBody>
          <a:bodyPr wrap="square">
            <a:spAutoFit/>
          </a:bodyPr>
          <a:lstStyle/>
          <a:p>
            <a:pPr>
              <a:defRPr sz="1000" b="0">
                <a:solidFill>
                  <a:srgbClr val="67718B"/>
                </a:solidFill>
                <a:latin typeface="Aptos"/>
              </a:defRPr>
            </a:pPr>
            <a:r>
              <a:t>Balance relevance, availability, margin and product diversity.</a:t>
            </a:r>
          </a:p>
        </p:txBody>
      </p:sp>
      <p:sp>
        <p:nvSpPr>
          <p:cNvPr id="17" name="Rounded Rectangle 16"/>
          <p:cNvSpPr/>
          <p:nvPr/>
        </p:nvSpPr>
        <p:spPr>
          <a:xfrm>
            <a:off x="658368" y="4489704"/>
            <a:ext cx="6400800" cy="8595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2960" y="4663440"/>
            <a:ext cx="438912" cy="438912"/>
          </a:xfrm>
          <a:prstGeom prst="roundRect">
            <a:avLst/>
          </a:prstGeom>
          <a:solidFill>
            <a:srgbClr val="E7E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773168"/>
            <a:ext cx="274320" cy="182880"/>
          </a:xfrm>
          <a:prstGeom prst="rect">
            <a:avLst/>
          </a:prstGeom>
          <a:noFill/>
        </p:spPr>
        <p:txBody>
          <a:bodyPr wrap="square">
            <a:spAutoFit/>
          </a:bodyPr>
          <a:lstStyle/>
          <a:p>
            <a:pPr>
              <a:defRPr sz="1000" b="1">
                <a:solidFill>
                  <a:srgbClr val="6853EB"/>
                </a:solidFill>
                <a:latin typeface="Aptos"/>
              </a:defRPr>
            </a:pPr>
            <a:r>
              <a:t>03</a:t>
            </a:r>
          </a:p>
        </p:txBody>
      </p:sp>
      <p:sp>
        <p:nvSpPr>
          <p:cNvPr id="20" name="TextBox 19"/>
          <p:cNvSpPr txBox="1"/>
          <p:nvPr/>
        </p:nvSpPr>
        <p:spPr>
          <a:xfrm>
            <a:off x="1444752" y="4645152"/>
            <a:ext cx="1920240" cy="228600"/>
          </a:xfrm>
          <a:prstGeom prst="rect">
            <a:avLst/>
          </a:prstGeom>
          <a:noFill/>
        </p:spPr>
        <p:txBody>
          <a:bodyPr wrap="square">
            <a:spAutoFit/>
          </a:bodyPr>
          <a:lstStyle/>
          <a:p>
            <a:pPr>
              <a:defRPr sz="1400" b="1">
                <a:solidFill>
                  <a:srgbClr val="16203A"/>
                </a:solidFill>
                <a:latin typeface="Aptos"/>
              </a:defRPr>
            </a:pPr>
            <a:r>
              <a:t>Learn responsibly</a:t>
            </a:r>
          </a:p>
        </p:txBody>
      </p:sp>
      <p:sp>
        <p:nvSpPr>
          <p:cNvPr id="21" name="TextBox 20"/>
          <p:cNvSpPr txBox="1"/>
          <p:nvPr/>
        </p:nvSpPr>
        <p:spPr>
          <a:xfrm>
            <a:off x="3337560" y="4645152"/>
            <a:ext cx="3429000" cy="475488"/>
          </a:xfrm>
          <a:prstGeom prst="rect">
            <a:avLst/>
          </a:prstGeom>
          <a:noFill/>
        </p:spPr>
        <p:txBody>
          <a:bodyPr wrap="square">
            <a:spAutoFit/>
          </a:bodyPr>
          <a:lstStyle/>
          <a:p>
            <a:pPr>
              <a:defRPr sz="1000" b="0">
                <a:solidFill>
                  <a:srgbClr val="67718B"/>
                </a:solidFill>
                <a:latin typeface="Aptos"/>
              </a:defRPr>
            </a:pPr>
            <a:r>
              <a:t>Test against a holdout; provide preference and opt-out controls.</a:t>
            </a:r>
          </a:p>
        </p:txBody>
      </p:sp>
      <p:sp>
        <p:nvSpPr>
          <p:cNvPr id="22" name="Rounded Rectangle 21"/>
          <p:cNvSpPr/>
          <p:nvPr/>
        </p:nvSpPr>
        <p:spPr>
          <a:xfrm>
            <a:off x="7452360" y="1417320"/>
            <a:ext cx="4069080" cy="4526280"/>
          </a:xfrm>
          <a:prstGeom prst="roundRect">
            <a:avLst/>
          </a:prstGeom>
          <a:solidFill>
            <a:srgbClr val="16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18120" y="1755648"/>
            <a:ext cx="3291840" cy="256032"/>
          </a:xfrm>
          <a:prstGeom prst="rect">
            <a:avLst/>
          </a:prstGeom>
          <a:noFill/>
        </p:spPr>
        <p:txBody>
          <a:bodyPr wrap="square">
            <a:spAutoFit/>
          </a:bodyPr>
          <a:lstStyle/>
          <a:p>
            <a:pPr>
              <a:defRPr sz="900" b="1">
                <a:solidFill>
                  <a:srgbClr val="C2E872"/>
                </a:solidFill>
                <a:latin typeface="Aptos"/>
              </a:defRPr>
            </a:pPr>
            <a:r>
              <a:t>EXAMPLE: PRODUCT DISCOVERY</a:t>
            </a:r>
          </a:p>
        </p:txBody>
      </p:sp>
      <p:sp>
        <p:nvSpPr>
          <p:cNvPr id="24" name="Rounded Rectangle 23"/>
          <p:cNvSpPr/>
          <p:nvPr/>
        </p:nvSpPr>
        <p:spPr>
          <a:xfrm>
            <a:off x="7818120" y="2212848"/>
            <a:ext cx="3337560" cy="1005840"/>
          </a:xfrm>
          <a:prstGeom prst="roundRect">
            <a:avLst/>
          </a:prstGeom>
          <a:solidFill>
            <a:srgbClr val="2A37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28431" y="2423160"/>
            <a:ext cx="2926080" cy="228600"/>
          </a:xfrm>
          <a:prstGeom prst="rect">
            <a:avLst/>
          </a:prstGeom>
          <a:noFill/>
        </p:spPr>
        <p:txBody>
          <a:bodyPr wrap="square">
            <a:spAutoFit/>
          </a:bodyPr>
          <a:lstStyle/>
          <a:p>
            <a:pPr>
              <a:defRPr sz="1300" b="1">
                <a:solidFill>
                  <a:srgbClr val="FFFFFF"/>
                </a:solidFill>
                <a:latin typeface="Aptos"/>
              </a:defRPr>
            </a:pPr>
            <a:r>
              <a:t>Recommended for your routine</a:t>
            </a:r>
          </a:p>
        </p:txBody>
      </p:sp>
      <p:sp>
        <p:nvSpPr>
          <p:cNvPr id="26" name="TextBox 25"/>
          <p:cNvSpPr txBox="1"/>
          <p:nvPr/>
        </p:nvSpPr>
        <p:spPr>
          <a:xfrm>
            <a:off x="8028431" y="2761488"/>
            <a:ext cx="2926080" cy="201168"/>
          </a:xfrm>
          <a:prstGeom prst="rect">
            <a:avLst/>
          </a:prstGeom>
          <a:noFill/>
        </p:spPr>
        <p:txBody>
          <a:bodyPr wrap="square">
            <a:spAutoFit/>
          </a:bodyPr>
          <a:lstStyle/>
          <a:p>
            <a:pPr>
              <a:defRPr sz="800" b="0">
                <a:solidFill>
                  <a:srgbClr val="BFC7DC"/>
                </a:solidFill>
                <a:latin typeface="Aptos"/>
              </a:defRPr>
            </a:pPr>
            <a:r>
              <a:t>Based on saved preferences and availability</a:t>
            </a:r>
          </a:p>
        </p:txBody>
      </p:sp>
      <p:sp>
        <p:nvSpPr>
          <p:cNvPr id="27" name="Rounded Rectangle 26"/>
          <p:cNvSpPr/>
          <p:nvPr/>
        </p:nvSpPr>
        <p:spPr>
          <a:xfrm>
            <a:off x="7845552" y="3493008"/>
            <a:ext cx="594360" cy="594360"/>
          </a:xfrm>
          <a:prstGeom prst="roundRect">
            <a:avLst/>
          </a:prstGeom>
          <a:solidFill>
            <a:srgbClr val="685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41080" y="3529584"/>
            <a:ext cx="1828800" cy="219456"/>
          </a:xfrm>
          <a:prstGeom prst="rect">
            <a:avLst/>
          </a:prstGeom>
          <a:noFill/>
        </p:spPr>
        <p:txBody>
          <a:bodyPr wrap="square">
            <a:spAutoFit/>
          </a:bodyPr>
          <a:lstStyle/>
          <a:p>
            <a:pPr>
              <a:defRPr sz="1000" b="1">
                <a:solidFill>
                  <a:srgbClr val="FFFFFF"/>
                </a:solidFill>
                <a:latin typeface="Aptos"/>
              </a:defRPr>
            </a:pPr>
            <a:r>
              <a:t>Everyday essentials</a:t>
            </a:r>
          </a:p>
        </p:txBody>
      </p:sp>
      <p:sp>
        <p:nvSpPr>
          <p:cNvPr id="29" name="TextBox 28"/>
          <p:cNvSpPr txBox="1"/>
          <p:nvPr/>
        </p:nvSpPr>
        <p:spPr>
          <a:xfrm>
            <a:off x="8641080" y="3803904"/>
            <a:ext cx="1828800" cy="182880"/>
          </a:xfrm>
          <a:prstGeom prst="rect">
            <a:avLst/>
          </a:prstGeom>
          <a:noFill/>
        </p:spPr>
        <p:txBody>
          <a:bodyPr wrap="square">
            <a:spAutoFit/>
          </a:bodyPr>
          <a:lstStyle/>
          <a:p>
            <a:pPr>
              <a:defRPr sz="800" b="0">
                <a:solidFill>
                  <a:srgbClr val="C2E872"/>
                </a:solidFill>
                <a:latin typeface="Aptos"/>
              </a:defRPr>
            </a:pPr>
            <a:r>
              <a:t>In stock</a:t>
            </a:r>
          </a:p>
        </p:txBody>
      </p:sp>
      <p:sp>
        <p:nvSpPr>
          <p:cNvPr id="30" name="Rounded Rectangle 29"/>
          <p:cNvSpPr/>
          <p:nvPr/>
        </p:nvSpPr>
        <p:spPr>
          <a:xfrm>
            <a:off x="7845552" y="4407408"/>
            <a:ext cx="594360" cy="594360"/>
          </a:xfrm>
          <a:prstGeom prst="roundRect">
            <a:avLst/>
          </a:prstGeom>
          <a:solidFill>
            <a:srgbClr val="45B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41080" y="4443984"/>
            <a:ext cx="1828800" cy="219456"/>
          </a:xfrm>
          <a:prstGeom prst="rect">
            <a:avLst/>
          </a:prstGeom>
          <a:noFill/>
        </p:spPr>
        <p:txBody>
          <a:bodyPr wrap="square">
            <a:spAutoFit/>
          </a:bodyPr>
          <a:lstStyle/>
          <a:p>
            <a:pPr>
              <a:defRPr sz="1000" b="1">
                <a:solidFill>
                  <a:srgbClr val="FFFFFF"/>
                </a:solidFill>
                <a:latin typeface="Aptos"/>
              </a:defRPr>
            </a:pPr>
            <a:r>
              <a:t>New season layers</a:t>
            </a:r>
          </a:p>
        </p:txBody>
      </p:sp>
      <p:sp>
        <p:nvSpPr>
          <p:cNvPr id="32" name="TextBox 31"/>
          <p:cNvSpPr txBox="1"/>
          <p:nvPr/>
        </p:nvSpPr>
        <p:spPr>
          <a:xfrm>
            <a:off x="8641080" y="4718304"/>
            <a:ext cx="1828800" cy="182880"/>
          </a:xfrm>
          <a:prstGeom prst="rect">
            <a:avLst/>
          </a:prstGeom>
          <a:noFill/>
        </p:spPr>
        <p:txBody>
          <a:bodyPr wrap="square">
            <a:spAutoFit/>
          </a:bodyPr>
          <a:lstStyle/>
          <a:p>
            <a:pPr>
              <a:defRPr sz="800" b="0">
                <a:solidFill>
                  <a:srgbClr val="45BEC6"/>
                </a:solidFill>
                <a:latin typeface="Aptos"/>
              </a:defRPr>
            </a:pPr>
            <a:r>
              <a:t>Good match</a:t>
            </a:r>
          </a:p>
        </p:txBody>
      </p:sp>
      <p:sp>
        <p:nvSpPr>
          <p:cNvPr id="33" name="TextBox 32"/>
          <p:cNvSpPr txBox="1"/>
          <p:nvPr/>
        </p:nvSpPr>
        <p:spPr>
          <a:xfrm>
            <a:off x="7845552" y="5440680"/>
            <a:ext cx="3291840" cy="256032"/>
          </a:xfrm>
          <a:prstGeom prst="rect">
            <a:avLst/>
          </a:prstGeom>
          <a:noFill/>
        </p:spPr>
        <p:txBody>
          <a:bodyPr wrap="square">
            <a:spAutoFit/>
          </a:bodyPr>
          <a:lstStyle/>
          <a:p>
            <a:pPr>
              <a:defRPr sz="900" b="1">
                <a:solidFill>
                  <a:srgbClr val="FFFFFF"/>
                </a:solidFill>
                <a:latin typeface="Aptos"/>
              </a:defRPr>
            </a:pPr>
            <a:r>
              <a:t>Success metric: conversion vs. holdout</a:t>
            </a:r>
          </a:p>
        </p:txBody>
      </p:sp>
      <p:sp>
        <p:nvSpPr>
          <p:cNvPr id="34" name="TextBox 33"/>
          <p:cNvSpPr txBox="1"/>
          <p:nvPr/>
        </p:nvSpPr>
        <p:spPr>
          <a:xfrm>
            <a:off x="566928" y="6510528"/>
            <a:ext cx="10972800" cy="164592"/>
          </a:xfrm>
          <a:prstGeom prst="rect">
            <a:avLst/>
          </a:prstGeom>
          <a:noFill/>
        </p:spPr>
        <p:txBody>
          <a:bodyPr wrap="square">
            <a:spAutoFit/>
          </a:bodyPr>
          <a:lstStyle/>
          <a:p>
            <a:pPr>
              <a:defRPr sz="700" b="1">
                <a:solidFill>
                  <a:srgbClr val="9097AB"/>
                </a:solidFill>
                <a:latin typeface="Aptos"/>
              </a:defRPr>
            </a:pPr>
            <a:r>
              <a:t>STRATEGY CONCEPT • SYNTHETIC DEMO • PILOT HYPOTHESES REQUIRE VALIDATION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6203A"/>
        </a:solidFill>
        <a:effectLst/>
      </p:bgPr>
    </p:bg>
    <p:spTree>
      <p:nvGrpSpPr>
        <p:cNvPr id="1" name=""/>
        <p:cNvGrpSpPr/>
        <p:nvPr/>
      </p:nvGrpSpPr>
      <p:grpSpPr/>
      <p:sp>
        <p:nvSpPr>
          <p:cNvPr id="2" name="TextBox 1"/>
          <p:cNvSpPr txBox="1"/>
          <p:nvPr/>
        </p:nvSpPr>
        <p:spPr>
          <a:xfrm>
            <a:off x="566928" y="320040"/>
            <a:ext cx="6400800" cy="256032"/>
          </a:xfrm>
          <a:prstGeom prst="rect">
            <a:avLst/>
          </a:prstGeom>
          <a:noFill/>
        </p:spPr>
        <p:txBody>
          <a:bodyPr wrap="square">
            <a:spAutoFit/>
          </a:bodyPr>
          <a:lstStyle/>
          <a:p>
            <a:pPr>
              <a:defRPr sz="900" b="1">
                <a:solidFill>
                  <a:srgbClr val="FFFFFF"/>
                </a:solidFill>
                <a:latin typeface="Aptos"/>
              </a:defRPr>
            </a:pPr>
            <a:r>
              <a:t>RETAIL REIMAGINED / PREDICTIVE FULFILMENT</a:t>
            </a:r>
          </a:p>
        </p:txBody>
      </p:sp>
      <p:sp>
        <p:nvSpPr>
          <p:cNvPr id="3" name="TextBox 2"/>
          <p:cNvSpPr txBox="1"/>
          <p:nvPr/>
        </p:nvSpPr>
        <p:spPr>
          <a:xfrm>
            <a:off x="10972800" y="310896"/>
            <a:ext cx="640080" cy="256032"/>
          </a:xfrm>
          <a:prstGeom prst="rect">
            <a:avLst/>
          </a:prstGeom>
          <a:noFill/>
        </p:spPr>
        <p:txBody>
          <a:bodyPr wrap="square">
            <a:spAutoFit/>
          </a:bodyPr>
          <a:lstStyle/>
          <a:p>
            <a:pPr algn="r">
              <a:defRPr sz="900" b="1">
                <a:solidFill>
                  <a:srgbClr val="FFFFFF"/>
                </a:solidFill>
                <a:latin typeface="Aptos"/>
              </a:defRPr>
            </a:pPr>
            <a:r>
              <a:t>03 / 05</a:t>
            </a:r>
          </a:p>
        </p:txBody>
      </p:sp>
      <p:sp>
        <p:nvSpPr>
          <p:cNvPr id="4" name="Rectangle 3"/>
          <p:cNvSpPr/>
          <p:nvPr/>
        </p:nvSpPr>
        <p:spPr>
          <a:xfrm>
            <a:off x="566928" y="694944"/>
            <a:ext cx="502920" cy="50292"/>
          </a:xfrm>
          <a:prstGeom prst="rect">
            <a:avLst/>
          </a:prstGeom>
          <a:solidFill>
            <a:srgbClr val="C2E8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60120"/>
            <a:ext cx="8046720" cy="502920"/>
          </a:xfrm>
          <a:prstGeom prst="rect">
            <a:avLst/>
          </a:prstGeom>
          <a:noFill/>
        </p:spPr>
        <p:txBody>
          <a:bodyPr wrap="square">
            <a:spAutoFit/>
          </a:bodyPr>
          <a:lstStyle/>
          <a:p>
            <a:pPr>
              <a:defRPr sz="2800" b="1">
                <a:solidFill>
                  <a:srgbClr val="FFFFFF"/>
                </a:solidFill>
                <a:latin typeface="Aptos"/>
              </a:defRPr>
            </a:pPr>
            <a:r>
              <a:t>Promise what you can fulfil.</a:t>
            </a:r>
          </a:p>
        </p:txBody>
      </p:sp>
      <p:sp>
        <p:nvSpPr>
          <p:cNvPr id="6" name="TextBox 5"/>
          <p:cNvSpPr txBox="1"/>
          <p:nvPr/>
        </p:nvSpPr>
        <p:spPr>
          <a:xfrm>
            <a:off x="658368" y="1572768"/>
            <a:ext cx="8046720" cy="411480"/>
          </a:xfrm>
          <a:prstGeom prst="rect">
            <a:avLst/>
          </a:prstGeom>
          <a:noFill/>
        </p:spPr>
        <p:txBody>
          <a:bodyPr wrap="square">
            <a:spAutoFit/>
          </a:bodyPr>
          <a:lstStyle/>
          <a:p>
            <a:pPr>
              <a:defRPr sz="1300" b="0">
                <a:solidFill>
                  <a:srgbClr val="BEC6DA"/>
                </a:solidFill>
                <a:latin typeface="Aptos"/>
              </a:defRPr>
            </a:pPr>
            <a:r>
              <a:t>Forecast demand and surface risk before the customer feels the impact.</a:t>
            </a:r>
          </a:p>
        </p:txBody>
      </p:sp>
      <p:sp>
        <p:nvSpPr>
          <p:cNvPr id="7" name="Rounded Rectangle 6"/>
          <p:cNvSpPr/>
          <p:nvPr/>
        </p:nvSpPr>
        <p:spPr>
          <a:xfrm>
            <a:off x="731520" y="2514600"/>
            <a:ext cx="3246120" cy="1325880"/>
          </a:xfrm>
          <a:prstGeom prst="roundRect">
            <a:avLst/>
          </a:prstGeom>
          <a:solidFill>
            <a:srgbClr val="20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514600"/>
            <a:ext cx="3246120" cy="82296"/>
          </a:xfrm>
          <a:prstGeom prst="rect">
            <a:avLst/>
          </a:prstGeom>
          <a:solidFill>
            <a:srgbClr val="685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779776"/>
            <a:ext cx="2651760" cy="274320"/>
          </a:xfrm>
          <a:prstGeom prst="rect">
            <a:avLst/>
          </a:prstGeom>
          <a:noFill/>
        </p:spPr>
        <p:txBody>
          <a:bodyPr wrap="square">
            <a:spAutoFit/>
          </a:bodyPr>
          <a:lstStyle/>
          <a:p>
            <a:pPr>
              <a:defRPr sz="1300" b="1">
                <a:solidFill>
                  <a:srgbClr val="6853EB"/>
                </a:solidFill>
                <a:latin typeface="Aptos"/>
              </a:defRPr>
            </a:pPr>
            <a:r>
              <a:t>SENSE</a:t>
            </a:r>
          </a:p>
        </p:txBody>
      </p:sp>
      <p:sp>
        <p:nvSpPr>
          <p:cNvPr id="10" name="TextBox 9"/>
          <p:cNvSpPr txBox="1"/>
          <p:nvPr/>
        </p:nvSpPr>
        <p:spPr>
          <a:xfrm>
            <a:off x="932688" y="3182112"/>
            <a:ext cx="2743200" cy="384048"/>
          </a:xfrm>
          <a:prstGeom prst="rect">
            <a:avLst/>
          </a:prstGeom>
          <a:noFill/>
        </p:spPr>
        <p:txBody>
          <a:bodyPr wrap="square">
            <a:spAutoFit/>
          </a:bodyPr>
          <a:lstStyle/>
          <a:p>
            <a:pPr>
              <a:defRPr sz="1100" b="0">
                <a:solidFill>
                  <a:srgbClr val="FFFFFF"/>
                </a:solidFill>
                <a:latin typeface="Aptos"/>
              </a:defRPr>
            </a:pPr>
            <a:r>
              <a:t>Sales • promo • seasonality</a:t>
            </a:r>
          </a:p>
        </p:txBody>
      </p:sp>
      <p:sp>
        <p:nvSpPr>
          <p:cNvPr id="11" name="TextBox 10"/>
          <p:cNvSpPr txBox="1"/>
          <p:nvPr/>
        </p:nvSpPr>
        <p:spPr>
          <a:xfrm>
            <a:off x="4069080" y="2962656"/>
            <a:ext cx="411480" cy="274320"/>
          </a:xfrm>
          <a:prstGeom prst="rect">
            <a:avLst/>
          </a:prstGeom>
          <a:noFill/>
        </p:spPr>
        <p:txBody>
          <a:bodyPr wrap="square">
            <a:spAutoFit/>
          </a:bodyPr>
          <a:lstStyle/>
          <a:p>
            <a:pPr>
              <a:defRPr sz="1900" b="1">
                <a:solidFill>
                  <a:srgbClr val="BEC6DA"/>
                </a:solidFill>
                <a:latin typeface="Aptos"/>
              </a:defRPr>
            </a:pPr>
            <a:r>
              <a:t>→</a:t>
            </a:r>
          </a:p>
        </p:txBody>
      </p:sp>
      <p:sp>
        <p:nvSpPr>
          <p:cNvPr id="12" name="Rounded Rectangle 11"/>
          <p:cNvSpPr/>
          <p:nvPr/>
        </p:nvSpPr>
        <p:spPr>
          <a:xfrm>
            <a:off x="4526280" y="2514600"/>
            <a:ext cx="3246120" cy="1325880"/>
          </a:xfrm>
          <a:prstGeom prst="roundRect">
            <a:avLst/>
          </a:prstGeom>
          <a:solidFill>
            <a:srgbClr val="20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26280" y="2514600"/>
            <a:ext cx="3246120" cy="82296"/>
          </a:xfrm>
          <a:prstGeom prst="rect">
            <a:avLst/>
          </a:prstGeom>
          <a:solidFill>
            <a:srgbClr val="45B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27448" y="2779776"/>
            <a:ext cx="2651760" cy="274320"/>
          </a:xfrm>
          <a:prstGeom prst="rect">
            <a:avLst/>
          </a:prstGeom>
          <a:noFill/>
        </p:spPr>
        <p:txBody>
          <a:bodyPr wrap="square">
            <a:spAutoFit/>
          </a:bodyPr>
          <a:lstStyle/>
          <a:p>
            <a:pPr>
              <a:defRPr sz="1300" b="1">
                <a:solidFill>
                  <a:srgbClr val="45BEC6"/>
                </a:solidFill>
                <a:latin typeface="Aptos"/>
              </a:defRPr>
            </a:pPr>
            <a:r>
              <a:t>PREDICT</a:t>
            </a:r>
          </a:p>
        </p:txBody>
      </p:sp>
      <p:sp>
        <p:nvSpPr>
          <p:cNvPr id="15" name="TextBox 14"/>
          <p:cNvSpPr txBox="1"/>
          <p:nvPr/>
        </p:nvSpPr>
        <p:spPr>
          <a:xfrm>
            <a:off x="4727448" y="3182112"/>
            <a:ext cx="2743200" cy="384048"/>
          </a:xfrm>
          <a:prstGeom prst="rect">
            <a:avLst/>
          </a:prstGeom>
          <a:noFill/>
        </p:spPr>
        <p:txBody>
          <a:bodyPr wrap="square">
            <a:spAutoFit/>
          </a:bodyPr>
          <a:lstStyle/>
          <a:p>
            <a:pPr>
              <a:defRPr sz="1100" b="0">
                <a:solidFill>
                  <a:srgbClr val="FFFFFF"/>
                </a:solidFill>
                <a:latin typeface="Aptos"/>
              </a:defRPr>
            </a:pPr>
            <a:r>
              <a:t>Demand • stock • lead time</a:t>
            </a:r>
          </a:p>
        </p:txBody>
      </p:sp>
      <p:sp>
        <p:nvSpPr>
          <p:cNvPr id="16" name="TextBox 15"/>
          <p:cNvSpPr txBox="1"/>
          <p:nvPr/>
        </p:nvSpPr>
        <p:spPr>
          <a:xfrm>
            <a:off x="7863840" y="2962656"/>
            <a:ext cx="411480" cy="274320"/>
          </a:xfrm>
          <a:prstGeom prst="rect">
            <a:avLst/>
          </a:prstGeom>
          <a:noFill/>
        </p:spPr>
        <p:txBody>
          <a:bodyPr wrap="square">
            <a:spAutoFit/>
          </a:bodyPr>
          <a:lstStyle/>
          <a:p>
            <a:pPr>
              <a:defRPr sz="1900" b="1">
                <a:solidFill>
                  <a:srgbClr val="BEC6DA"/>
                </a:solidFill>
                <a:latin typeface="Aptos"/>
              </a:defRPr>
            </a:pPr>
            <a:r>
              <a:t>→</a:t>
            </a:r>
          </a:p>
        </p:txBody>
      </p:sp>
      <p:sp>
        <p:nvSpPr>
          <p:cNvPr id="17" name="Rounded Rectangle 16"/>
          <p:cNvSpPr/>
          <p:nvPr/>
        </p:nvSpPr>
        <p:spPr>
          <a:xfrm>
            <a:off x="8321040" y="2514600"/>
            <a:ext cx="3246120" cy="1325880"/>
          </a:xfrm>
          <a:prstGeom prst="roundRect">
            <a:avLst/>
          </a:prstGeom>
          <a:solidFill>
            <a:srgbClr val="20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21040" y="2514600"/>
            <a:ext cx="3246120" cy="82296"/>
          </a:xfrm>
          <a:prstGeom prst="rect">
            <a:avLst/>
          </a:prstGeom>
          <a:solidFill>
            <a:srgbClr val="C2E8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22208" y="2779776"/>
            <a:ext cx="2651760" cy="274320"/>
          </a:xfrm>
          <a:prstGeom prst="rect">
            <a:avLst/>
          </a:prstGeom>
          <a:noFill/>
        </p:spPr>
        <p:txBody>
          <a:bodyPr wrap="square">
            <a:spAutoFit/>
          </a:bodyPr>
          <a:lstStyle/>
          <a:p>
            <a:pPr>
              <a:defRPr sz="1300" b="1">
                <a:solidFill>
                  <a:srgbClr val="C2E872"/>
                </a:solidFill>
                <a:latin typeface="Aptos"/>
              </a:defRPr>
            </a:pPr>
            <a:r>
              <a:t>ACT</a:t>
            </a:r>
          </a:p>
        </p:txBody>
      </p:sp>
      <p:sp>
        <p:nvSpPr>
          <p:cNvPr id="20" name="TextBox 19"/>
          <p:cNvSpPr txBox="1"/>
          <p:nvPr/>
        </p:nvSpPr>
        <p:spPr>
          <a:xfrm>
            <a:off x="8522208" y="3182112"/>
            <a:ext cx="2743200" cy="384048"/>
          </a:xfrm>
          <a:prstGeom prst="rect">
            <a:avLst/>
          </a:prstGeom>
          <a:noFill/>
        </p:spPr>
        <p:txBody>
          <a:bodyPr wrap="square">
            <a:spAutoFit/>
          </a:bodyPr>
          <a:lstStyle/>
          <a:p>
            <a:pPr>
              <a:defRPr sz="1100" b="0">
                <a:solidFill>
                  <a:srgbClr val="FFFFFF"/>
                </a:solidFill>
                <a:latin typeface="Aptos"/>
              </a:defRPr>
            </a:pPr>
            <a:r>
              <a:t>Replenish • reroute • notify</a:t>
            </a:r>
          </a:p>
        </p:txBody>
      </p:sp>
      <p:sp>
        <p:nvSpPr>
          <p:cNvPr id="21" name="Rounded Rectangle 20"/>
          <p:cNvSpPr/>
          <p:nvPr/>
        </p:nvSpPr>
        <p:spPr>
          <a:xfrm>
            <a:off x="731520" y="4389120"/>
            <a:ext cx="10835640" cy="1234440"/>
          </a:xfrm>
          <a:prstGeom prst="roundRect">
            <a:avLst/>
          </a:prstGeom>
          <a:solidFill>
            <a:srgbClr val="2734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4645152"/>
            <a:ext cx="2743200" cy="237744"/>
          </a:xfrm>
          <a:prstGeom prst="rect">
            <a:avLst/>
          </a:prstGeom>
          <a:noFill/>
        </p:spPr>
        <p:txBody>
          <a:bodyPr wrap="square">
            <a:spAutoFit/>
          </a:bodyPr>
          <a:lstStyle/>
          <a:p>
            <a:pPr>
              <a:defRPr sz="900" b="1">
                <a:solidFill>
                  <a:srgbClr val="C2E872"/>
                </a:solidFill>
                <a:latin typeface="Aptos"/>
              </a:defRPr>
            </a:pPr>
            <a:r>
              <a:t>WHAT CHANGES</a:t>
            </a:r>
          </a:p>
        </p:txBody>
      </p:sp>
      <p:sp>
        <p:nvSpPr>
          <p:cNvPr id="23" name="TextBox 22"/>
          <p:cNvSpPr txBox="1"/>
          <p:nvPr/>
        </p:nvSpPr>
        <p:spPr>
          <a:xfrm>
            <a:off x="1005840" y="4983480"/>
            <a:ext cx="3474720" cy="347472"/>
          </a:xfrm>
          <a:prstGeom prst="rect">
            <a:avLst/>
          </a:prstGeom>
          <a:noFill/>
        </p:spPr>
        <p:txBody>
          <a:bodyPr wrap="square">
            <a:spAutoFit/>
          </a:bodyPr>
          <a:lstStyle/>
          <a:p>
            <a:pPr>
              <a:defRPr sz="1400" b="1">
                <a:solidFill>
                  <a:srgbClr val="FFFFFF"/>
                </a:solidFill>
                <a:latin typeface="Aptos"/>
              </a:defRPr>
            </a:pPr>
            <a:r>
              <a:t>Fewer avoidable stockouts</a:t>
            </a:r>
          </a:p>
        </p:txBody>
      </p:sp>
      <p:sp>
        <p:nvSpPr>
          <p:cNvPr id="24" name="TextBox 23"/>
          <p:cNvSpPr txBox="1"/>
          <p:nvPr/>
        </p:nvSpPr>
        <p:spPr>
          <a:xfrm>
            <a:off x="4160520" y="4645152"/>
            <a:ext cx="2743200" cy="237744"/>
          </a:xfrm>
          <a:prstGeom prst="rect">
            <a:avLst/>
          </a:prstGeom>
          <a:noFill/>
        </p:spPr>
        <p:txBody>
          <a:bodyPr wrap="square">
            <a:spAutoFit/>
          </a:bodyPr>
          <a:lstStyle/>
          <a:p>
            <a:pPr>
              <a:defRPr sz="900" b="1">
                <a:solidFill>
                  <a:srgbClr val="45BEC6"/>
                </a:solidFill>
                <a:latin typeface="Aptos"/>
              </a:defRPr>
            </a:pPr>
            <a:r>
              <a:t>HOW TO PROVE IT</a:t>
            </a:r>
          </a:p>
        </p:txBody>
      </p:sp>
      <p:sp>
        <p:nvSpPr>
          <p:cNvPr id="25" name="TextBox 24"/>
          <p:cNvSpPr txBox="1"/>
          <p:nvPr/>
        </p:nvSpPr>
        <p:spPr>
          <a:xfrm>
            <a:off x="4160520" y="4983480"/>
            <a:ext cx="3474720" cy="347472"/>
          </a:xfrm>
          <a:prstGeom prst="rect">
            <a:avLst/>
          </a:prstGeom>
          <a:noFill/>
        </p:spPr>
        <p:txBody>
          <a:bodyPr wrap="square">
            <a:spAutoFit/>
          </a:bodyPr>
          <a:lstStyle/>
          <a:p>
            <a:pPr>
              <a:defRPr sz="1400" b="1">
                <a:solidFill>
                  <a:srgbClr val="FFFFFF"/>
                </a:solidFill>
                <a:latin typeface="Aptos"/>
              </a:defRPr>
            </a:pPr>
            <a:r>
              <a:t>Forecast error + availability</a:t>
            </a:r>
          </a:p>
        </p:txBody>
      </p:sp>
      <p:sp>
        <p:nvSpPr>
          <p:cNvPr id="26" name="TextBox 25"/>
          <p:cNvSpPr txBox="1"/>
          <p:nvPr/>
        </p:nvSpPr>
        <p:spPr>
          <a:xfrm>
            <a:off x="7406640" y="4645152"/>
            <a:ext cx="2743200" cy="237744"/>
          </a:xfrm>
          <a:prstGeom prst="rect">
            <a:avLst/>
          </a:prstGeom>
          <a:noFill/>
        </p:spPr>
        <p:txBody>
          <a:bodyPr wrap="square">
            <a:spAutoFit/>
          </a:bodyPr>
          <a:lstStyle/>
          <a:p>
            <a:pPr>
              <a:defRPr sz="900" b="1">
                <a:solidFill>
                  <a:srgbClr val="F67D69"/>
                </a:solidFill>
                <a:latin typeface="Aptos"/>
              </a:defRPr>
            </a:pPr>
            <a:r>
              <a:t>CONTROL</a:t>
            </a:r>
          </a:p>
        </p:txBody>
      </p:sp>
      <p:sp>
        <p:nvSpPr>
          <p:cNvPr id="27" name="TextBox 26"/>
          <p:cNvSpPr txBox="1"/>
          <p:nvPr/>
        </p:nvSpPr>
        <p:spPr>
          <a:xfrm>
            <a:off x="7406640" y="4983480"/>
            <a:ext cx="3474720" cy="347472"/>
          </a:xfrm>
          <a:prstGeom prst="rect">
            <a:avLst/>
          </a:prstGeom>
          <a:noFill/>
        </p:spPr>
        <p:txBody>
          <a:bodyPr wrap="square">
            <a:spAutoFit/>
          </a:bodyPr>
          <a:lstStyle/>
          <a:p>
            <a:pPr>
              <a:defRPr sz="1400" b="1">
                <a:solidFill>
                  <a:srgbClr val="FFFFFF"/>
                </a:solidFill>
                <a:latin typeface="Aptos"/>
              </a:defRPr>
            </a:pPr>
            <a:r>
              <a:t>Human override for exceptions</a:t>
            </a:r>
          </a:p>
        </p:txBody>
      </p:sp>
      <p:sp>
        <p:nvSpPr>
          <p:cNvPr id="28" name="TextBox 27"/>
          <p:cNvSpPr txBox="1"/>
          <p:nvPr/>
        </p:nvSpPr>
        <p:spPr>
          <a:xfrm>
            <a:off x="777240" y="5943600"/>
            <a:ext cx="10698480" cy="274320"/>
          </a:xfrm>
          <a:prstGeom prst="rect">
            <a:avLst/>
          </a:prstGeom>
          <a:noFill/>
        </p:spPr>
        <p:txBody>
          <a:bodyPr wrap="square">
            <a:spAutoFit/>
          </a:bodyPr>
          <a:lstStyle/>
          <a:p>
            <a:pPr>
              <a:defRPr sz="1000" b="0">
                <a:solidFill>
                  <a:srgbClr val="BEC6DA"/>
                </a:solidFill>
                <a:latin typeface="Aptos"/>
              </a:defRPr>
            </a:pPr>
            <a:r>
              <a:t>Pilot idea: one category × selected stores × matched comparison group</a:t>
            </a:r>
          </a:p>
        </p:txBody>
      </p:sp>
      <p:sp>
        <p:nvSpPr>
          <p:cNvPr id="29" name="TextBox 28"/>
          <p:cNvSpPr txBox="1"/>
          <p:nvPr/>
        </p:nvSpPr>
        <p:spPr>
          <a:xfrm>
            <a:off x="566928" y="6510528"/>
            <a:ext cx="10972800" cy="164592"/>
          </a:xfrm>
          <a:prstGeom prst="rect">
            <a:avLst/>
          </a:prstGeom>
          <a:noFill/>
        </p:spPr>
        <p:txBody>
          <a:bodyPr wrap="square">
            <a:spAutoFit/>
          </a:bodyPr>
          <a:lstStyle/>
          <a:p>
            <a:pPr>
              <a:defRPr sz="700" b="1">
                <a:solidFill>
                  <a:srgbClr val="AEB5C9"/>
                </a:solidFill>
                <a:latin typeface="Aptos"/>
              </a:defRPr>
            </a:pPr>
            <a:r>
              <a:t>STRATEGY CONCEPT • SYNTHETIC DEMO • PILOT HYPOTHESES REQUIRE VALIDATION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TextBox 1"/>
          <p:cNvSpPr txBox="1"/>
          <p:nvPr/>
        </p:nvSpPr>
        <p:spPr>
          <a:xfrm>
            <a:off x="566928" y="320040"/>
            <a:ext cx="6400800" cy="256032"/>
          </a:xfrm>
          <a:prstGeom prst="rect">
            <a:avLst/>
          </a:prstGeom>
          <a:noFill/>
        </p:spPr>
        <p:txBody>
          <a:bodyPr wrap="square">
            <a:spAutoFit/>
          </a:bodyPr>
          <a:lstStyle/>
          <a:p>
            <a:pPr>
              <a:defRPr sz="900" b="1">
                <a:solidFill>
                  <a:srgbClr val="67718B"/>
                </a:solidFill>
                <a:latin typeface="Aptos"/>
              </a:defRPr>
            </a:pPr>
            <a:r>
              <a:t>RETAIL REIMAGINED / OMNICHANNEL</a:t>
            </a:r>
          </a:p>
        </p:txBody>
      </p:sp>
      <p:sp>
        <p:nvSpPr>
          <p:cNvPr id="3" name="TextBox 2"/>
          <p:cNvSpPr txBox="1"/>
          <p:nvPr/>
        </p:nvSpPr>
        <p:spPr>
          <a:xfrm>
            <a:off x="10972800" y="310896"/>
            <a:ext cx="640080" cy="256032"/>
          </a:xfrm>
          <a:prstGeom prst="rect">
            <a:avLst/>
          </a:prstGeom>
          <a:noFill/>
        </p:spPr>
        <p:txBody>
          <a:bodyPr wrap="square">
            <a:spAutoFit/>
          </a:bodyPr>
          <a:lstStyle/>
          <a:p>
            <a:pPr algn="r">
              <a:defRPr sz="900" b="1">
                <a:solidFill>
                  <a:srgbClr val="67718B"/>
                </a:solidFill>
                <a:latin typeface="Aptos"/>
              </a:defRPr>
            </a:pPr>
            <a:r>
              <a:t>04 / 05</a:t>
            </a:r>
          </a:p>
        </p:txBody>
      </p:sp>
      <p:sp>
        <p:nvSpPr>
          <p:cNvPr id="4" name="Rectangle 3"/>
          <p:cNvSpPr/>
          <p:nvPr/>
        </p:nvSpPr>
        <p:spPr>
          <a:xfrm>
            <a:off x="566928" y="694944"/>
            <a:ext cx="502920" cy="50292"/>
          </a:xfrm>
          <a:prstGeom prst="rect">
            <a:avLst/>
          </a:prstGeom>
          <a:solidFill>
            <a:srgbClr val="685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60120"/>
            <a:ext cx="8046720" cy="502920"/>
          </a:xfrm>
          <a:prstGeom prst="rect">
            <a:avLst/>
          </a:prstGeom>
          <a:noFill/>
        </p:spPr>
        <p:txBody>
          <a:bodyPr wrap="square">
            <a:spAutoFit/>
          </a:bodyPr>
          <a:lstStyle/>
          <a:p>
            <a:pPr>
              <a:defRPr sz="2700" b="1">
                <a:solidFill>
                  <a:srgbClr val="16203A"/>
                </a:solidFill>
                <a:latin typeface="Aptos"/>
              </a:defRPr>
            </a:pPr>
            <a:r>
              <a:t>One customer. One connected journey.</a:t>
            </a:r>
          </a:p>
        </p:txBody>
      </p:sp>
      <p:sp>
        <p:nvSpPr>
          <p:cNvPr id="6" name="TextBox 5"/>
          <p:cNvSpPr txBox="1"/>
          <p:nvPr/>
        </p:nvSpPr>
        <p:spPr>
          <a:xfrm>
            <a:off x="658368" y="1572768"/>
            <a:ext cx="8046720" cy="411480"/>
          </a:xfrm>
          <a:prstGeom prst="rect">
            <a:avLst/>
          </a:prstGeom>
          <a:noFill/>
        </p:spPr>
        <p:txBody>
          <a:bodyPr wrap="square">
            <a:spAutoFit/>
          </a:bodyPr>
          <a:lstStyle/>
          <a:p>
            <a:pPr>
              <a:defRPr sz="1300" b="0">
                <a:solidFill>
                  <a:srgbClr val="67718B"/>
                </a:solidFill>
                <a:latin typeface="Aptos"/>
              </a:defRPr>
            </a:pPr>
            <a:r>
              <a:t>Keep context intact from discovery through fulfilment, returns and service recovery.</a:t>
            </a:r>
          </a:p>
        </p:txBody>
      </p:sp>
      <p:sp>
        <p:nvSpPr>
          <p:cNvPr id="7" name="Rectangle 6"/>
          <p:cNvSpPr/>
          <p:nvPr/>
        </p:nvSpPr>
        <p:spPr>
          <a:xfrm>
            <a:off x="1097280" y="2971800"/>
            <a:ext cx="9875520" cy="32004"/>
          </a:xfrm>
          <a:prstGeom prst="rect">
            <a:avLst/>
          </a:prstGeom>
          <a:solidFill>
            <a:srgbClr val="DA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34440" y="2633472"/>
            <a:ext cx="713232" cy="713232"/>
          </a:xfrm>
          <a:prstGeom prst="ellipse">
            <a:avLst/>
          </a:prstGeom>
          <a:solidFill>
            <a:srgbClr val="685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99032" y="2862072"/>
            <a:ext cx="365760" cy="182880"/>
          </a:xfrm>
          <a:prstGeom prst="rect">
            <a:avLst/>
          </a:prstGeom>
          <a:noFill/>
        </p:spPr>
        <p:txBody>
          <a:bodyPr wrap="square">
            <a:spAutoFit/>
          </a:bodyPr>
          <a:lstStyle/>
          <a:p>
            <a:pPr>
              <a:defRPr sz="1000" b="1">
                <a:solidFill>
                  <a:srgbClr val="FFFFFF"/>
                </a:solidFill>
                <a:latin typeface="Aptos"/>
              </a:defRPr>
            </a:pPr>
            <a:r>
              <a:t>01</a:t>
            </a:r>
          </a:p>
        </p:txBody>
      </p:sp>
      <p:sp>
        <p:nvSpPr>
          <p:cNvPr id="10" name="TextBox 9"/>
          <p:cNvSpPr txBox="1"/>
          <p:nvPr/>
        </p:nvSpPr>
        <p:spPr>
          <a:xfrm>
            <a:off x="731520" y="3584448"/>
            <a:ext cx="1783080" cy="274320"/>
          </a:xfrm>
          <a:prstGeom prst="rect">
            <a:avLst/>
          </a:prstGeom>
          <a:noFill/>
        </p:spPr>
        <p:txBody>
          <a:bodyPr wrap="square">
            <a:spAutoFit/>
          </a:bodyPr>
          <a:lstStyle/>
          <a:p>
            <a:pPr>
              <a:defRPr sz="1400" b="1">
                <a:solidFill>
                  <a:srgbClr val="16203A"/>
                </a:solidFill>
                <a:latin typeface="Aptos"/>
              </a:defRPr>
            </a:pPr>
            <a:r>
              <a:t>Discover</a:t>
            </a:r>
          </a:p>
        </p:txBody>
      </p:sp>
      <p:sp>
        <p:nvSpPr>
          <p:cNvPr id="11" name="TextBox 10"/>
          <p:cNvSpPr txBox="1"/>
          <p:nvPr/>
        </p:nvSpPr>
        <p:spPr>
          <a:xfrm>
            <a:off x="731520" y="3931920"/>
            <a:ext cx="2194560" cy="365760"/>
          </a:xfrm>
          <a:prstGeom prst="rect">
            <a:avLst/>
          </a:prstGeom>
          <a:noFill/>
        </p:spPr>
        <p:txBody>
          <a:bodyPr wrap="square">
            <a:spAutoFit/>
          </a:bodyPr>
          <a:lstStyle/>
          <a:p>
            <a:pPr>
              <a:defRPr sz="1000" b="0">
                <a:solidFill>
                  <a:srgbClr val="67718B"/>
                </a:solidFill>
                <a:latin typeface="Aptos"/>
              </a:defRPr>
            </a:pPr>
            <a:r>
              <a:t>Relevant products</a:t>
            </a:r>
          </a:p>
        </p:txBody>
      </p:sp>
      <p:sp>
        <p:nvSpPr>
          <p:cNvPr id="12" name="Oval 11"/>
          <p:cNvSpPr/>
          <p:nvPr/>
        </p:nvSpPr>
        <p:spPr>
          <a:xfrm>
            <a:off x="4087368" y="2633472"/>
            <a:ext cx="713232" cy="713232"/>
          </a:xfrm>
          <a:prstGeom prst="ellipse">
            <a:avLst/>
          </a:prstGeom>
          <a:solidFill>
            <a:srgbClr val="45B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51960" y="2862072"/>
            <a:ext cx="365760" cy="182880"/>
          </a:xfrm>
          <a:prstGeom prst="rect">
            <a:avLst/>
          </a:prstGeom>
          <a:noFill/>
        </p:spPr>
        <p:txBody>
          <a:bodyPr wrap="square">
            <a:spAutoFit/>
          </a:bodyPr>
          <a:lstStyle/>
          <a:p>
            <a:pPr>
              <a:defRPr sz="1000" b="1">
                <a:solidFill>
                  <a:srgbClr val="FFFFFF"/>
                </a:solidFill>
                <a:latin typeface="Aptos"/>
              </a:defRPr>
            </a:pPr>
            <a:r>
              <a:t>02</a:t>
            </a:r>
          </a:p>
        </p:txBody>
      </p:sp>
      <p:sp>
        <p:nvSpPr>
          <p:cNvPr id="14" name="TextBox 13"/>
          <p:cNvSpPr txBox="1"/>
          <p:nvPr/>
        </p:nvSpPr>
        <p:spPr>
          <a:xfrm>
            <a:off x="3584448" y="3584448"/>
            <a:ext cx="1783080" cy="274320"/>
          </a:xfrm>
          <a:prstGeom prst="rect">
            <a:avLst/>
          </a:prstGeom>
          <a:noFill/>
        </p:spPr>
        <p:txBody>
          <a:bodyPr wrap="square">
            <a:spAutoFit/>
          </a:bodyPr>
          <a:lstStyle/>
          <a:p>
            <a:pPr>
              <a:defRPr sz="1400" b="1">
                <a:solidFill>
                  <a:srgbClr val="16203A"/>
                </a:solidFill>
                <a:latin typeface="Aptos"/>
              </a:defRPr>
            </a:pPr>
            <a:r>
              <a:t>Purchase</a:t>
            </a:r>
          </a:p>
        </p:txBody>
      </p:sp>
      <p:sp>
        <p:nvSpPr>
          <p:cNvPr id="15" name="TextBox 14"/>
          <p:cNvSpPr txBox="1"/>
          <p:nvPr/>
        </p:nvSpPr>
        <p:spPr>
          <a:xfrm>
            <a:off x="3584448" y="3931920"/>
            <a:ext cx="2194560" cy="365760"/>
          </a:xfrm>
          <a:prstGeom prst="rect">
            <a:avLst/>
          </a:prstGeom>
          <a:noFill/>
        </p:spPr>
        <p:txBody>
          <a:bodyPr wrap="square">
            <a:spAutoFit/>
          </a:bodyPr>
          <a:lstStyle/>
          <a:p>
            <a:pPr>
              <a:defRPr sz="1000" b="0">
                <a:solidFill>
                  <a:srgbClr val="67718B"/>
                </a:solidFill>
                <a:latin typeface="Aptos"/>
              </a:defRPr>
            </a:pPr>
            <a:r>
              <a:t>Clear promise</a:t>
            </a:r>
          </a:p>
        </p:txBody>
      </p:sp>
      <p:sp>
        <p:nvSpPr>
          <p:cNvPr id="16" name="Oval 15"/>
          <p:cNvSpPr/>
          <p:nvPr/>
        </p:nvSpPr>
        <p:spPr>
          <a:xfrm>
            <a:off x="6940296" y="2633472"/>
            <a:ext cx="713232" cy="713232"/>
          </a:xfrm>
          <a:prstGeom prst="ellipse">
            <a:avLst/>
          </a:prstGeom>
          <a:solidFill>
            <a:srgbClr val="209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04888" y="2862072"/>
            <a:ext cx="365760" cy="182880"/>
          </a:xfrm>
          <a:prstGeom prst="rect">
            <a:avLst/>
          </a:prstGeom>
          <a:noFill/>
        </p:spPr>
        <p:txBody>
          <a:bodyPr wrap="square">
            <a:spAutoFit/>
          </a:bodyPr>
          <a:lstStyle/>
          <a:p>
            <a:pPr>
              <a:defRPr sz="1000" b="1">
                <a:solidFill>
                  <a:srgbClr val="FFFFFF"/>
                </a:solidFill>
                <a:latin typeface="Aptos"/>
              </a:defRPr>
            </a:pPr>
            <a:r>
              <a:t>03</a:t>
            </a:r>
          </a:p>
        </p:txBody>
      </p:sp>
      <p:sp>
        <p:nvSpPr>
          <p:cNvPr id="18" name="TextBox 17"/>
          <p:cNvSpPr txBox="1"/>
          <p:nvPr/>
        </p:nvSpPr>
        <p:spPr>
          <a:xfrm>
            <a:off x="6437376" y="3584448"/>
            <a:ext cx="1783080" cy="274320"/>
          </a:xfrm>
          <a:prstGeom prst="rect">
            <a:avLst/>
          </a:prstGeom>
          <a:noFill/>
        </p:spPr>
        <p:txBody>
          <a:bodyPr wrap="square">
            <a:spAutoFit/>
          </a:bodyPr>
          <a:lstStyle/>
          <a:p>
            <a:pPr>
              <a:defRPr sz="1400" b="1">
                <a:solidFill>
                  <a:srgbClr val="16203A"/>
                </a:solidFill>
                <a:latin typeface="Aptos"/>
              </a:defRPr>
            </a:pPr>
            <a:r>
              <a:t>Fulfil</a:t>
            </a:r>
          </a:p>
        </p:txBody>
      </p:sp>
      <p:sp>
        <p:nvSpPr>
          <p:cNvPr id="19" name="TextBox 18"/>
          <p:cNvSpPr txBox="1"/>
          <p:nvPr/>
        </p:nvSpPr>
        <p:spPr>
          <a:xfrm>
            <a:off x="6437376" y="3931920"/>
            <a:ext cx="2194560" cy="365760"/>
          </a:xfrm>
          <a:prstGeom prst="rect">
            <a:avLst/>
          </a:prstGeom>
          <a:noFill/>
        </p:spPr>
        <p:txBody>
          <a:bodyPr wrap="square">
            <a:spAutoFit/>
          </a:bodyPr>
          <a:lstStyle/>
          <a:p>
            <a:pPr>
              <a:defRPr sz="1000" b="0">
                <a:solidFill>
                  <a:srgbClr val="67718B"/>
                </a:solidFill>
                <a:latin typeface="Aptos"/>
              </a:defRPr>
            </a:pPr>
            <a:r>
              <a:t>Proactive updates</a:t>
            </a:r>
          </a:p>
        </p:txBody>
      </p:sp>
      <p:sp>
        <p:nvSpPr>
          <p:cNvPr id="20" name="Oval 19"/>
          <p:cNvSpPr/>
          <p:nvPr/>
        </p:nvSpPr>
        <p:spPr>
          <a:xfrm>
            <a:off x="9793224" y="2633472"/>
            <a:ext cx="713232" cy="713232"/>
          </a:xfrm>
          <a:prstGeom prst="ellipse">
            <a:avLst/>
          </a:prstGeom>
          <a:solidFill>
            <a:srgbClr val="F67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57816" y="2862072"/>
            <a:ext cx="365760" cy="182880"/>
          </a:xfrm>
          <a:prstGeom prst="rect">
            <a:avLst/>
          </a:prstGeom>
          <a:noFill/>
        </p:spPr>
        <p:txBody>
          <a:bodyPr wrap="square">
            <a:spAutoFit/>
          </a:bodyPr>
          <a:lstStyle/>
          <a:p>
            <a:pPr>
              <a:defRPr sz="1000" b="1">
                <a:solidFill>
                  <a:srgbClr val="FFFFFF"/>
                </a:solidFill>
                <a:latin typeface="Aptos"/>
              </a:defRPr>
            </a:pPr>
            <a:r>
              <a:t>04</a:t>
            </a:r>
          </a:p>
        </p:txBody>
      </p:sp>
      <p:sp>
        <p:nvSpPr>
          <p:cNvPr id="22" name="TextBox 21"/>
          <p:cNvSpPr txBox="1"/>
          <p:nvPr/>
        </p:nvSpPr>
        <p:spPr>
          <a:xfrm>
            <a:off x="9290304" y="3584448"/>
            <a:ext cx="1783080" cy="274320"/>
          </a:xfrm>
          <a:prstGeom prst="rect">
            <a:avLst/>
          </a:prstGeom>
          <a:noFill/>
        </p:spPr>
        <p:txBody>
          <a:bodyPr wrap="square">
            <a:spAutoFit/>
          </a:bodyPr>
          <a:lstStyle/>
          <a:p>
            <a:pPr>
              <a:defRPr sz="1400" b="1">
                <a:solidFill>
                  <a:srgbClr val="16203A"/>
                </a:solidFill>
                <a:latin typeface="Aptos"/>
              </a:defRPr>
            </a:pPr>
            <a:r>
              <a:t>Resolve</a:t>
            </a:r>
          </a:p>
        </p:txBody>
      </p:sp>
      <p:sp>
        <p:nvSpPr>
          <p:cNvPr id="23" name="TextBox 22"/>
          <p:cNvSpPr txBox="1"/>
          <p:nvPr/>
        </p:nvSpPr>
        <p:spPr>
          <a:xfrm>
            <a:off x="9290304" y="3931920"/>
            <a:ext cx="2194560" cy="365760"/>
          </a:xfrm>
          <a:prstGeom prst="rect">
            <a:avLst/>
          </a:prstGeom>
          <a:noFill/>
        </p:spPr>
        <p:txBody>
          <a:bodyPr wrap="square">
            <a:spAutoFit/>
          </a:bodyPr>
          <a:lstStyle/>
          <a:p>
            <a:pPr>
              <a:defRPr sz="1000" b="0">
                <a:solidFill>
                  <a:srgbClr val="67718B"/>
                </a:solidFill>
                <a:latin typeface="Aptos"/>
              </a:defRPr>
            </a:pPr>
            <a:r>
              <a:t>Human handoff</a:t>
            </a:r>
          </a:p>
        </p:txBody>
      </p:sp>
      <p:sp>
        <p:nvSpPr>
          <p:cNvPr id="24" name="Rounded Rectangle 23"/>
          <p:cNvSpPr/>
          <p:nvPr/>
        </p:nvSpPr>
        <p:spPr>
          <a:xfrm>
            <a:off x="731520" y="4754880"/>
            <a:ext cx="1069848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965192"/>
            <a:ext cx="1920240" cy="228600"/>
          </a:xfrm>
          <a:prstGeom prst="rect">
            <a:avLst/>
          </a:prstGeom>
          <a:noFill/>
        </p:spPr>
        <p:txBody>
          <a:bodyPr wrap="square">
            <a:spAutoFit/>
          </a:bodyPr>
          <a:lstStyle/>
          <a:p>
            <a:pPr>
              <a:defRPr sz="900" b="1">
                <a:solidFill>
                  <a:srgbClr val="F67D69"/>
                </a:solidFill>
                <a:latin typeface="Aptos"/>
              </a:defRPr>
            </a:pPr>
            <a:r>
              <a:t>WHEN SOMETHING GOES WRONG</a:t>
            </a:r>
          </a:p>
        </p:txBody>
      </p:sp>
      <p:sp>
        <p:nvSpPr>
          <p:cNvPr id="26" name="TextBox 25"/>
          <p:cNvSpPr txBox="1"/>
          <p:nvPr/>
        </p:nvSpPr>
        <p:spPr>
          <a:xfrm>
            <a:off x="3246120" y="4937760"/>
            <a:ext cx="7680960" cy="411480"/>
          </a:xfrm>
          <a:prstGeom prst="rect">
            <a:avLst/>
          </a:prstGeom>
          <a:noFill/>
        </p:spPr>
        <p:txBody>
          <a:bodyPr wrap="square">
            <a:spAutoFit/>
          </a:bodyPr>
          <a:lstStyle/>
          <a:p>
            <a:pPr>
              <a:defRPr sz="1400" b="1">
                <a:solidFill>
                  <a:srgbClr val="16203A"/>
                </a:solidFill>
                <a:latin typeface="Aptos"/>
              </a:defRPr>
            </a:pPr>
            <a:r>
              <a:t>Explain the issue → offer choices → preserve customer control</a:t>
            </a:r>
          </a:p>
        </p:txBody>
      </p:sp>
      <p:sp>
        <p:nvSpPr>
          <p:cNvPr id="27" name="TextBox 26"/>
          <p:cNvSpPr txBox="1"/>
          <p:nvPr/>
        </p:nvSpPr>
        <p:spPr>
          <a:xfrm>
            <a:off x="566928" y="6510528"/>
            <a:ext cx="10972800" cy="164592"/>
          </a:xfrm>
          <a:prstGeom prst="rect">
            <a:avLst/>
          </a:prstGeom>
          <a:noFill/>
        </p:spPr>
        <p:txBody>
          <a:bodyPr wrap="square">
            <a:spAutoFit/>
          </a:bodyPr>
          <a:lstStyle/>
          <a:p>
            <a:pPr>
              <a:defRPr sz="700" b="1">
                <a:solidFill>
                  <a:srgbClr val="9097AB"/>
                </a:solidFill>
                <a:latin typeface="Aptos"/>
              </a:defRPr>
            </a:pPr>
            <a:r>
              <a:t>STRATEGY CONCEPT • SYNTHETIC DEMO • PILOT HYPOTHESES REQUIRE VALIDATION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TextBox 1"/>
          <p:cNvSpPr txBox="1"/>
          <p:nvPr/>
        </p:nvSpPr>
        <p:spPr>
          <a:xfrm>
            <a:off x="566928" y="320040"/>
            <a:ext cx="6400800" cy="256032"/>
          </a:xfrm>
          <a:prstGeom prst="rect">
            <a:avLst/>
          </a:prstGeom>
          <a:noFill/>
        </p:spPr>
        <p:txBody>
          <a:bodyPr wrap="square">
            <a:spAutoFit/>
          </a:bodyPr>
          <a:lstStyle/>
          <a:p>
            <a:pPr>
              <a:defRPr sz="900" b="1">
                <a:solidFill>
                  <a:srgbClr val="67718B"/>
                </a:solidFill>
                <a:latin typeface="Aptos"/>
              </a:defRPr>
            </a:pPr>
            <a:r>
              <a:t>RETAIL REIMAGINED / ROADMAP &amp; MEASUREMENT</a:t>
            </a:r>
          </a:p>
        </p:txBody>
      </p:sp>
      <p:sp>
        <p:nvSpPr>
          <p:cNvPr id="3" name="TextBox 2"/>
          <p:cNvSpPr txBox="1"/>
          <p:nvPr/>
        </p:nvSpPr>
        <p:spPr>
          <a:xfrm>
            <a:off x="10972800" y="310896"/>
            <a:ext cx="640080" cy="256032"/>
          </a:xfrm>
          <a:prstGeom prst="rect">
            <a:avLst/>
          </a:prstGeom>
          <a:noFill/>
        </p:spPr>
        <p:txBody>
          <a:bodyPr wrap="square">
            <a:spAutoFit/>
          </a:bodyPr>
          <a:lstStyle/>
          <a:p>
            <a:pPr algn="r">
              <a:defRPr sz="900" b="1">
                <a:solidFill>
                  <a:srgbClr val="67718B"/>
                </a:solidFill>
                <a:latin typeface="Aptos"/>
              </a:defRPr>
            </a:pPr>
            <a:r>
              <a:t>05 / 05</a:t>
            </a:r>
          </a:p>
        </p:txBody>
      </p:sp>
      <p:sp>
        <p:nvSpPr>
          <p:cNvPr id="4" name="Rectangle 3"/>
          <p:cNvSpPr/>
          <p:nvPr/>
        </p:nvSpPr>
        <p:spPr>
          <a:xfrm>
            <a:off x="566928" y="694944"/>
            <a:ext cx="502920" cy="50292"/>
          </a:xfrm>
          <a:prstGeom prst="rect">
            <a:avLst/>
          </a:prstGeom>
          <a:solidFill>
            <a:srgbClr val="685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60120"/>
            <a:ext cx="8961120" cy="502920"/>
          </a:xfrm>
          <a:prstGeom prst="rect">
            <a:avLst/>
          </a:prstGeom>
          <a:noFill/>
        </p:spPr>
        <p:txBody>
          <a:bodyPr wrap="square">
            <a:spAutoFit/>
          </a:bodyPr>
          <a:lstStyle/>
          <a:p>
            <a:pPr>
              <a:defRPr sz="2700" b="1">
                <a:solidFill>
                  <a:srgbClr val="16203A"/>
                </a:solidFill>
                <a:latin typeface="Aptos"/>
              </a:defRPr>
            </a:pPr>
            <a:r>
              <a:t>Start small. Prove value. Scale with trust.</a:t>
            </a:r>
          </a:p>
        </p:txBody>
      </p:sp>
      <p:sp>
        <p:nvSpPr>
          <p:cNvPr id="6" name="TextBox 5"/>
          <p:cNvSpPr txBox="1"/>
          <p:nvPr/>
        </p:nvSpPr>
        <p:spPr>
          <a:xfrm>
            <a:off x="658368" y="1572768"/>
            <a:ext cx="9875520" cy="365760"/>
          </a:xfrm>
          <a:prstGeom prst="rect">
            <a:avLst/>
          </a:prstGeom>
          <a:noFill/>
        </p:spPr>
        <p:txBody>
          <a:bodyPr wrap="square">
            <a:spAutoFit/>
          </a:bodyPr>
          <a:lstStyle/>
          <a:p>
            <a:pPr>
              <a:defRPr sz="1300" b="0">
                <a:solidFill>
                  <a:srgbClr val="67718B"/>
                </a:solidFill>
                <a:latin typeface="Aptos"/>
              </a:defRPr>
            </a:pPr>
            <a:r>
              <a:t>A 90-day path from focused pilot to evidence-based scale decision.</a:t>
            </a:r>
          </a:p>
        </p:txBody>
      </p:sp>
      <p:sp>
        <p:nvSpPr>
          <p:cNvPr id="7" name="Rounded Rectangle 6"/>
          <p:cNvSpPr/>
          <p:nvPr/>
        </p:nvSpPr>
        <p:spPr>
          <a:xfrm>
            <a:off x="658368" y="2331720"/>
            <a:ext cx="2578608" cy="15727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331720"/>
            <a:ext cx="2578608" cy="73152"/>
          </a:xfrm>
          <a:prstGeom prst="rect">
            <a:avLst/>
          </a:prstGeom>
          <a:solidFill>
            <a:srgbClr val="685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560320"/>
            <a:ext cx="2240280" cy="201168"/>
          </a:xfrm>
          <a:prstGeom prst="rect">
            <a:avLst/>
          </a:prstGeom>
          <a:noFill/>
        </p:spPr>
        <p:txBody>
          <a:bodyPr wrap="square">
            <a:spAutoFit/>
          </a:bodyPr>
          <a:lstStyle/>
          <a:p>
            <a:pPr>
              <a:defRPr sz="800" b="1">
                <a:solidFill>
                  <a:srgbClr val="6853EB"/>
                </a:solidFill>
                <a:latin typeface="Aptos"/>
              </a:defRPr>
            </a:pPr>
            <a:r>
              <a:t>DAYS 1–15</a:t>
            </a:r>
          </a:p>
        </p:txBody>
      </p:sp>
      <p:sp>
        <p:nvSpPr>
          <p:cNvPr id="10" name="TextBox 9"/>
          <p:cNvSpPr txBox="1"/>
          <p:nvPr/>
        </p:nvSpPr>
        <p:spPr>
          <a:xfrm>
            <a:off x="822959" y="2852928"/>
            <a:ext cx="2240280" cy="256032"/>
          </a:xfrm>
          <a:prstGeom prst="rect">
            <a:avLst/>
          </a:prstGeom>
          <a:noFill/>
        </p:spPr>
        <p:txBody>
          <a:bodyPr wrap="square">
            <a:spAutoFit/>
          </a:bodyPr>
          <a:lstStyle/>
          <a:p>
            <a:pPr>
              <a:defRPr sz="1500" b="1">
                <a:solidFill>
                  <a:srgbClr val="16203A"/>
                </a:solidFill>
                <a:latin typeface="Aptos"/>
              </a:defRPr>
            </a:pPr>
            <a:r>
              <a:t>Define</a:t>
            </a:r>
          </a:p>
        </p:txBody>
      </p:sp>
      <p:sp>
        <p:nvSpPr>
          <p:cNvPr id="11" name="TextBox 10"/>
          <p:cNvSpPr txBox="1"/>
          <p:nvPr/>
        </p:nvSpPr>
        <p:spPr>
          <a:xfrm>
            <a:off x="822959" y="3227832"/>
            <a:ext cx="2267712" cy="502920"/>
          </a:xfrm>
          <a:prstGeom prst="rect">
            <a:avLst/>
          </a:prstGeom>
          <a:noFill/>
        </p:spPr>
        <p:txBody>
          <a:bodyPr wrap="square">
            <a:spAutoFit/>
          </a:bodyPr>
          <a:lstStyle/>
          <a:p>
            <a:pPr>
              <a:defRPr sz="1000" b="0">
                <a:solidFill>
                  <a:srgbClr val="67718B"/>
                </a:solidFill>
                <a:latin typeface="Aptos"/>
              </a:defRPr>
            </a:pPr>
            <a:r>
              <a:t>Baseline, owner, data access,</a:t>
            </a:r>
          </a:p>
          <a:p>
            <a:pPr>
              <a:defRPr sz="1000" b="0">
                <a:solidFill>
                  <a:srgbClr val="67718B"/>
                </a:solidFill>
                <a:latin typeface="Aptos"/>
              </a:defRPr>
            </a:pPr>
            <a:r>
              <a:t>consent and guardrails</a:t>
            </a:r>
          </a:p>
        </p:txBody>
      </p:sp>
      <p:sp>
        <p:nvSpPr>
          <p:cNvPr id="12" name="Rounded Rectangle 11"/>
          <p:cNvSpPr/>
          <p:nvPr/>
        </p:nvSpPr>
        <p:spPr>
          <a:xfrm>
            <a:off x="3511296" y="2331720"/>
            <a:ext cx="2578608" cy="15727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11296" y="2331720"/>
            <a:ext cx="2578608" cy="73152"/>
          </a:xfrm>
          <a:prstGeom prst="rect">
            <a:avLst/>
          </a:prstGeom>
          <a:solidFill>
            <a:srgbClr val="45B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5887" y="2560320"/>
            <a:ext cx="2240280" cy="201168"/>
          </a:xfrm>
          <a:prstGeom prst="rect">
            <a:avLst/>
          </a:prstGeom>
          <a:noFill/>
        </p:spPr>
        <p:txBody>
          <a:bodyPr wrap="square">
            <a:spAutoFit/>
          </a:bodyPr>
          <a:lstStyle/>
          <a:p>
            <a:pPr>
              <a:defRPr sz="800" b="1">
                <a:solidFill>
                  <a:srgbClr val="45BEC6"/>
                </a:solidFill>
                <a:latin typeface="Aptos"/>
              </a:defRPr>
            </a:pPr>
            <a:r>
              <a:t>DAYS 16–35</a:t>
            </a:r>
          </a:p>
        </p:txBody>
      </p:sp>
      <p:sp>
        <p:nvSpPr>
          <p:cNvPr id="15" name="TextBox 14"/>
          <p:cNvSpPr txBox="1"/>
          <p:nvPr/>
        </p:nvSpPr>
        <p:spPr>
          <a:xfrm>
            <a:off x="3675887" y="2852928"/>
            <a:ext cx="2240280" cy="256032"/>
          </a:xfrm>
          <a:prstGeom prst="rect">
            <a:avLst/>
          </a:prstGeom>
          <a:noFill/>
        </p:spPr>
        <p:txBody>
          <a:bodyPr wrap="square">
            <a:spAutoFit/>
          </a:bodyPr>
          <a:lstStyle/>
          <a:p>
            <a:pPr>
              <a:defRPr sz="1500" b="1">
                <a:solidFill>
                  <a:srgbClr val="16203A"/>
                </a:solidFill>
                <a:latin typeface="Aptos"/>
              </a:defRPr>
            </a:pPr>
            <a:r>
              <a:t>Build</a:t>
            </a:r>
          </a:p>
        </p:txBody>
      </p:sp>
      <p:sp>
        <p:nvSpPr>
          <p:cNvPr id="16" name="TextBox 15"/>
          <p:cNvSpPr txBox="1"/>
          <p:nvPr/>
        </p:nvSpPr>
        <p:spPr>
          <a:xfrm>
            <a:off x="3675887" y="3227832"/>
            <a:ext cx="2267712" cy="502920"/>
          </a:xfrm>
          <a:prstGeom prst="rect">
            <a:avLst/>
          </a:prstGeom>
          <a:noFill/>
        </p:spPr>
        <p:txBody>
          <a:bodyPr wrap="square">
            <a:spAutoFit/>
          </a:bodyPr>
          <a:lstStyle/>
          <a:p>
            <a:pPr>
              <a:defRPr sz="1000" b="0">
                <a:solidFill>
                  <a:srgbClr val="67718B"/>
                </a:solidFill>
                <a:latin typeface="Aptos"/>
              </a:defRPr>
            </a:pPr>
            <a:r>
              <a:t>Data quality, prototype,</a:t>
            </a:r>
          </a:p>
          <a:p>
            <a:pPr>
              <a:defRPr sz="1000" b="0">
                <a:solidFill>
                  <a:srgbClr val="67718B"/>
                </a:solidFill>
                <a:latin typeface="Aptos"/>
              </a:defRPr>
            </a:pPr>
            <a:r>
              <a:t>monitoring and fallback</a:t>
            </a:r>
          </a:p>
        </p:txBody>
      </p:sp>
      <p:sp>
        <p:nvSpPr>
          <p:cNvPr id="17" name="Rounded Rectangle 16"/>
          <p:cNvSpPr/>
          <p:nvPr/>
        </p:nvSpPr>
        <p:spPr>
          <a:xfrm>
            <a:off x="6364224" y="2331720"/>
            <a:ext cx="2578608" cy="15727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64224" y="2331720"/>
            <a:ext cx="2578608" cy="73152"/>
          </a:xfrm>
          <a:prstGeom prst="rect">
            <a:avLst/>
          </a:prstGeom>
          <a:solidFill>
            <a:srgbClr val="209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28816" y="2560320"/>
            <a:ext cx="2240280" cy="201168"/>
          </a:xfrm>
          <a:prstGeom prst="rect">
            <a:avLst/>
          </a:prstGeom>
          <a:noFill/>
        </p:spPr>
        <p:txBody>
          <a:bodyPr wrap="square">
            <a:spAutoFit/>
          </a:bodyPr>
          <a:lstStyle/>
          <a:p>
            <a:pPr>
              <a:defRPr sz="800" b="1">
                <a:solidFill>
                  <a:srgbClr val="209D74"/>
                </a:solidFill>
                <a:latin typeface="Aptos"/>
              </a:defRPr>
            </a:pPr>
            <a:r>
              <a:t>DAYS 36–60</a:t>
            </a:r>
          </a:p>
        </p:txBody>
      </p:sp>
      <p:sp>
        <p:nvSpPr>
          <p:cNvPr id="20" name="TextBox 19"/>
          <p:cNvSpPr txBox="1"/>
          <p:nvPr/>
        </p:nvSpPr>
        <p:spPr>
          <a:xfrm>
            <a:off x="6528816" y="2852928"/>
            <a:ext cx="2240280" cy="256032"/>
          </a:xfrm>
          <a:prstGeom prst="rect">
            <a:avLst/>
          </a:prstGeom>
          <a:noFill/>
        </p:spPr>
        <p:txBody>
          <a:bodyPr wrap="square">
            <a:spAutoFit/>
          </a:bodyPr>
          <a:lstStyle/>
          <a:p>
            <a:pPr>
              <a:defRPr sz="1500" b="1">
                <a:solidFill>
                  <a:srgbClr val="16203A"/>
                </a:solidFill>
                <a:latin typeface="Aptos"/>
              </a:defRPr>
            </a:pPr>
            <a:r>
              <a:t>Pilot</a:t>
            </a:r>
          </a:p>
        </p:txBody>
      </p:sp>
      <p:sp>
        <p:nvSpPr>
          <p:cNvPr id="21" name="TextBox 20"/>
          <p:cNvSpPr txBox="1"/>
          <p:nvPr/>
        </p:nvSpPr>
        <p:spPr>
          <a:xfrm>
            <a:off x="6528816" y="3227832"/>
            <a:ext cx="2267712" cy="502920"/>
          </a:xfrm>
          <a:prstGeom prst="rect">
            <a:avLst/>
          </a:prstGeom>
          <a:noFill/>
        </p:spPr>
        <p:txBody>
          <a:bodyPr wrap="square">
            <a:spAutoFit/>
          </a:bodyPr>
          <a:lstStyle/>
          <a:p>
            <a:pPr>
              <a:defRPr sz="1000" b="0">
                <a:solidFill>
                  <a:srgbClr val="67718B"/>
                </a:solidFill>
                <a:latin typeface="Aptos"/>
              </a:defRPr>
            </a:pPr>
            <a:r>
              <a:t>Limited cohort, holdout,</a:t>
            </a:r>
          </a:p>
          <a:p>
            <a:pPr>
              <a:defRPr sz="1000" b="0">
                <a:solidFill>
                  <a:srgbClr val="67718B"/>
                </a:solidFill>
                <a:latin typeface="Aptos"/>
              </a:defRPr>
            </a:pPr>
            <a:r>
              <a:t>daily guardrail checks</a:t>
            </a:r>
          </a:p>
        </p:txBody>
      </p:sp>
      <p:sp>
        <p:nvSpPr>
          <p:cNvPr id="22" name="Rounded Rectangle 21"/>
          <p:cNvSpPr/>
          <p:nvPr/>
        </p:nvSpPr>
        <p:spPr>
          <a:xfrm>
            <a:off x="9217152" y="2331720"/>
            <a:ext cx="2578608" cy="15727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17152" y="2331720"/>
            <a:ext cx="2578608" cy="73152"/>
          </a:xfrm>
          <a:prstGeom prst="rect">
            <a:avLst/>
          </a:prstGeom>
          <a:solidFill>
            <a:srgbClr val="F67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81744" y="2560320"/>
            <a:ext cx="2240280" cy="201168"/>
          </a:xfrm>
          <a:prstGeom prst="rect">
            <a:avLst/>
          </a:prstGeom>
          <a:noFill/>
        </p:spPr>
        <p:txBody>
          <a:bodyPr wrap="square">
            <a:spAutoFit/>
          </a:bodyPr>
          <a:lstStyle/>
          <a:p>
            <a:pPr>
              <a:defRPr sz="800" b="1">
                <a:solidFill>
                  <a:srgbClr val="F67D69"/>
                </a:solidFill>
                <a:latin typeface="Aptos"/>
              </a:defRPr>
            </a:pPr>
            <a:r>
              <a:t>DAYS 61–90</a:t>
            </a:r>
          </a:p>
        </p:txBody>
      </p:sp>
      <p:sp>
        <p:nvSpPr>
          <p:cNvPr id="25" name="TextBox 24"/>
          <p:cNvSpPr txBox="1"/>
          <p:nvPr/>
        </p:nvSpPr>
        <p:spPr>
          <a:xfrm>
            <a:off x="9381744" y="2852928"/>
            <a:ext cx="2240280" cy="256032"/>
          </a:xfrm>
          <a:prstGeom prst="rect">
            <a:avLst/>
          </a:prstGeom>
          <a:noFill/>
        </p:spPr>
        <p:txBody>
          <a:bodyPr wrap="square">
            <a:spAutoFit/>
          </a:bodyPr>
          <a:lstStyle/>
          <a:p>
            <a:pPr>
              <a:defRPr sz="1500" b="1">
                <a:solidFill>
                  <a:srgbClr val="16203A"/>
                </a:solidFill>
                <a:latin typeface="Aptos"/>
              </a:defRPr>
            </a:pPr>
            <a:r>
              <a:t>Decide</a:t>
            </a:r>
          </a:p>
        </p:txBody>
      </p:sp>
      <p:sp>
        <p:nvSpPr>
          <p:cNvPr id="26" name="TextBox 25"/>
          <p:cNvSpPr txBox="1"/>
          <p:nvPr/>
        </p:nvSpPr>
        <p:spPr>
          <a:xfrm>
            <a:off x="9381744" y="3227832"/>
            <a:ext cx="2267712" cy="502920"/>
          </a:xfrm>
          <a:prstGeom prst="rect">
            <a:avLst/>
          </a:prstGeom>
          <a:noFill/>
        </p:spPr>
        <p:txBody>
          <a:bodyPr wrap="square">
            <a:spAutoFit/>
          </a:bodyPr>
          <a:lstStyle/>
          <a:p>
            <a:pPr>
              <a:defRPr sz="1000" b="0">
                <a:solidFill>
                  <a:srgbClr val="67718B"/>
                </a:solidFill>
                <a:latin typeface="Aptos"/>
              </a:defRPr>
            </a:pPr>
            <a:r>
              <a:t>Measure incrementality;</a:t>
            </a:r>
          </a:p>
          <a:p>
            <a:pPr>
              <a:defRPr sz="1000" b="0">
                <a:solidFill>
                  <a:srgbClr val="67718B"/>
                </a:solidFill>
                <a:latin typeface="Aptos"/>
              </a:defRPr>
            </a:pPr>
            <a:r>
              <a:t>scale, iterate or stop</a:t>
            </a:r>
          </a:p>
        </p:txBody>
      </p:sp>
      <p:sp>
        <p:nvSpPr>
          <p:cNvPr id="27" name="Rounded Rectangle 26"/>
          <p:cNvSpPr/>
          <p:nvPr/>
        </p:nvSpPr>
        <p:spPr>
          <a:xfrm>
            <a:off x="658368" y="4343400"/>
            <a:ext cx="10881360" cy="1298448"/>
          </a:xfrm>
          <a:prstGeom prst="roundRect">
            <a:avLst/>
          </a:prstGeom>
          <a:solidFill>
            <a:srgbClr val="16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 y="4590288"/>
            <a:ext cx="1828800" cy="228600"/>
          </a:xfrm>
          <a:prstGeom prst="rect">
            <a:avLst/>
          </a:prstGeom>
          <a:noFill/>
        </p:spPr>
        <p:txBody>
          <a:bodyPr wrap="square">
            <a:spAutoFit/>
          </a:bodyPr>
          <a:lstStyle/>
          <a:p>
            <a:pPr>
              <a:defRPr sz="900" b="1">
                <a:solidFill>
                  <a:srgbClr val="C2E872"/>
                </a:solidFill>
                <a:latin typeface="Aptos"/>
              </a:defRPr>
            </a:pPr>
            <a:r>
              <a:t>MEASURE THE OUTCOME</a:t>
            </a:r>
          </a:p>
        </p:txBody>
      </p:sp>
      <p:sp>
        <p:nvSpPr>
          <p:cNvPr id="29" name="TextBox 28"/>
          <p:cNvSpPr txBox="1"/>
          <p:nvPr/>
        </p:nvSpPr>
        <p:spPr>
          <a:xfrm>
            <a:off x="2788920" y="4562856"/>
            <a:ext cx="1874519" cy="219456"/>
          </a:xfrm>
          <a:prstGeom prst="rect">
            <a:avLst/>
          </a:prstGeom>
          <a:noFill/>
        </p:spPr>
        <p:txBody>
          <a:bodyPr wrap="square">
            <a:spAutoFit/>
          </a:bodyPr>
          <a:lstStyle/>
          <a:p>
            <a:pPr>
              <a:defRPr sz="1100" b="1">
                <a:solidFill>
                  <a:srgbClr val="FFFFFF"/>
                </a:solidFill>
                <a:latin typeface="Aptos"/>
              </a:defRPr>
            </a:pPr>
            <a:r>
              <a:t>Customer</a:t>
            </a:r>
          </a:p>
        </p:txBody>
      </p:sp>
      <p:sp>
        <p:nvSpPr>
          <p:cNvPr id="30" name="TextBox 29"/>
          <p:cNvSpPr txBox="1"/>
          <p:nvPr/>
        </p:nvSpPr>
        <p:spPr>
          <a:xfrm>
            <a:off x="2788920" y="4919472"/>
            <a:ext cx="1938528" cy="384048"/>
          </a:xfrm>
          <a:prstGeom prst="rect">
            <a:avLst/>
          </a:prstGeom>
          <a:noFill/>
        </p:spPr>
        <p:txBody>
          <a:bodyPr wrap="square">
            <a:spAutoFit/>
          </a:bodyPr>
          <a:lstStyle/>
          <a:p>
            <a:pPr>
              <a:defRPr sz="900" b="0">
                <a:solidFill>
                  <a:srgbClr val="BEC6DA"/>
                </a:solidFill>
                <a:latin typeface="Aptos"/>
              </a:defRPr>
            </a:pPr>
            <a:r>
              <a:t>Conversion · CSAT</a:t>
            </a:r>
          </a:p>
        </p:txBody>
      </p:sp>
      <p:sp>
        <p:nvSpPr>
          <p:cNvPr id="31" name="TextBox 30"/>
          <p:cNvSpPr txBox="1"/>
          <p:nvPr/>
        </p:nvSpPr>
        <p:spPr>
          <a:xfrm>
            <a:off x="4892040" y="4562856"/>
            <a:ext cx="1874519" cy="219456"/>
          </a:xfrm>
          <a:prstGeom prst="rect">
            <a:avLst/>
          </a:prstGeom>
          <a:noFill/>
        </p:spPr>
        <p:txBody>
          <a:bodyPr wrap="square">
            <a:spAutoFit/>
          </a:bodyPr>
          <a:lstStyle/>
          <a:p>
            <a:pPr>
              <a:defRPr sz="1100" b="1">
                <a:solidFill>
                  <a:srgbClr val="FFFFFF"/>
                </a:solidFill>
                <a:latin typeface="Aptos"/>
              </a:defRPr>
            </a:pPr>
            <a:r>
              <a:t>Operations</a:t>
            </a:r>
          </a:p>
        </p:txBody>
      </p:sp>
      <p:sp>
        <p:nvSpPr>
          <p:cNvPr id="32" name="TextBox 31"/>
          <p:cNvSpPr txBox="1"/>
          <p:nvPr/>
        </p:nvSpPr>
        <p:spPr>
          <a:xfrm>
            <a:off x="4892040" y="4919472"/>
            <a:ext cx="1938528" cy="384048"/>
          </a:xfrm>
          <a:prstGeom prst="rect">
            <a:avLst/>
          </a:prstGeom>
          <a:noFill/>
        </p:spPr>
        <p:txBody>
          <a:bodyPr wrap="square">
            <a:spAutoFit/>
          </a:bodyPr>
          <a:lstStyle/>
          <a:p>
            <a:pPr>
              <a:defRPr sz="900" b="0">
                <a:solidFill>
                  <a:srgbClr val="BEC6DA"/>
                </a:solidFill>
                <a:latin typeface="Aptos"/>
              </a:defRPr>
            </a:pPr>
            <a:r>
              <a:t>Stockouts · forecast error</a:t>
            </a:r>
          </a:p>
        </p:txBody>
      </p:sp>
      <p:sp>
        <p:nvSpPr>
          <p:cNvPr id="33" name="TextBox 32"/>
          <p:cNvSpPr txBox="1"/>
          <p:nvPr/>
        </p:nvSpPr>
        <p:spPr>
          <a:xfrm>
            <a:off x="6995159" y="4562856"/>
            <a:ext cx="1874519" cy="219456"/>
          </a:xfrm>
          <a:prstGeom prst="rect">
            <a:avLst/>
          </a:prstGeom>
          <a:noFill/>
        </p:spPr>
        <p:txBody>
          <a:bodyPr wrap="square">
            <a:spAutoFit/>
          </a:bodyPr>
          <a:lstStyle/>
          <a:p>
            <a:pPr>
              <a:defRPr sz="1100" b="1">
                <a:solidFill>
                  <a:srgbClr val="FFFFFF"/>
                </a:solidFill>
                <a:latin typeface="Aptos"/>
              </a:defRPr>
            </a:pPr>
            <a:r>
              <a:t>Economics</a:t>
            </a:r>
          </a:p>
        </p:txBody>
      </p:sp>
      <p:sp>
        <p:nvSpPr>
          <p:cNvPr id="34" name="TextBox 33"/>
          <p:cNvSpPr txBox="1"/>
          <p:nvPr/>
        </p:nvSpPr>
        <p:spPr>
          <a:xfrm>
            <a:off x="6995159" y="4919472"/>
            <a:ext cx="1938528" cy="384048"/>
          </a:xfrm>
          <a:prstGeom prst="rect">
            <a:avLst/>
          </a:prstGeom>
          <a:noFill/>
        </p:spPr>
        <p:txBody>
          <a:bodyPr wrap="square">
            <a:spAutoFit/>
          </a:bodyPr>
          <a:lstStyle/>
          <a:p>
            <a:pPr>
              <a:defRPr sz="900" b="0">
                <a:solidFill>
                  <a:srgbClr val="BEC6DA"/>
                </a:solidFill>
                <a:latin typeface="Aptos"/>
              </a:defRPr>
            </a:pPr>
            <a:r>
              <a:t>Incremental gross margin</a:t>
            </a:r>
          </a:p>
        </p:txBody>
      </p:sp>
      <p:sp>
        <p:nvSpPr>
          <p:cNvPr id="35" name="TextBox 34"/>
          <p:cNvSpPr txBox="1"/>
          <p:nvPr/>
        </p:nvSpPr>
        <p:spPr>
          <a:xfrm>
            <a:off x="9098280" y="4562856"/>
            <a:ext cx="1874519" cy="219456"/>
          </a:xfrm>
          <a:prstGeom prst="rect">
            <a:avLst/>
          </a:prstGeom>
          <a:noFill/>
        </p:spPr>
        <p:txBody>
          <a:bodyPr wrap="square">
            <a:spAutoFit/>
          </a:bodyPr>
          <a:lstStyle/>
          <a:p>
            <a:pPr>
              <a:defRPr sz="1100" b="1">
                <a:solidFill>
                  <a:srgbClr val="FFFFFF"/>
                </a:solidFill>
                <a:latin typeface="Aptos"/>
              </a:defRPr>
            </a:pPr>
            <a:r>
              <a:t>Trust</a:t>
            </a:r>
          </a:p>
        </p:txBody>
      </p:sp>
      <p:sp>
        <p:nvSpPr>
          <p:cNvPr id="36" name="TextBox 35"/>
          <p:cNvSpPr txBox="1"/>
          <p:nvPr/>
        </p:nvSpPr>
        <p:spPr>
          <a:xfrm>
            <a:off x="9098280" y="4919472"/>
            <a:ext cx="1938528" cy="384048"/>
          </a:xfrm>
          <a:prstGeom prst="rect">
            <a:avLst/>
          </a:prstGeom>
          <a:noFill/>
        </p:spPr>
        <p:txBody>
          <a:bodyPr wrap="square">
            <a:spAutoFit/>
          </a:bodyPr>
          <a:lstStyle/>
          <a:p>
            <a:pPr>
              <a:defRPr sz="900" b="0">
                <a:solidFill>
                  <a:srgbClr val="BEC6DA"/>
                </a:solidFill>
                <a:latin typeface="Aptos"/>
              </a:defRPr>
            </a:pPr>
            <a:r>
              <a:t>Accuracy · escalation · opt-out</a:t>
            </a:r>
          </a:p>
        </p:txBody>
      </p:sp>
      <p:sp>
        <p:nvSpPr>
          <p:cNvPr id="37" name="TextBox 36"/>
          <p:cNvSpPr txBox="1"/>
          <p:nvPr/>
        </p:nvSpPr>
        <p:spPr>
          <a:xfrm>
            <a:off x="777240" y="5897880"/>
            <a:ext cx="10515600" cy="274320"/>
          </a:xfrm>
          <a:prstGeom prst="rect">
            <a:avLst/>
          </a:prstGeom>
          <a:noFill/>
        </p:spPr>
        <p:txBody>
          <a:bodyPr wrap="square">
            <a:spAutoFit/>
          </a:bodyPr>
          <a:lstStyle/>
          <a:p>
            <a:pPr>
              <a:defRPr sz="1000" b="0">
                <a:solidFill>
                  <a:srgbClr val="67718B"/>
                </a:solidFill>
                <a:latin typeface="Aptos"/>
              </a:defRPr>
            </a:pPr>
            <a:r>
              <a:t>Decision gate: scale only when business outcomes improve and trust guardrails remain within agreed limits.</a:t>
            </a:r>
          </a:p>
        </p:txBody>
      </p:sp>
      <p:sp>
        <p:nvSpPr>
          <p:cNvPr id="38" name="TextBox 37"/>
          <p:cNvSpPr txBox="1"/>
          <p:nvPr/>
        </p:nvSpPr>
        <p:spPr>
          <a:xfrm>
            <a:off x="566928" y="6510528"/>
            <a:ext cx="10972800" cy="164592"/>
          </a:xfrm>
          <a:prstGeom prst="rect">
            <a:avLst/>
          </a:prstGeom>
          <a:noFill/>
        </p:spPr>
        <p:txBody>
          <a:bodyPr wrap="square">
            <a:spAutoFit/>
          </a:bodyPr>
          <a:lstStyle/>
          <a:p>
            <a:pPr>
              <a:defRPr sz="700" b="1">
                <a:solidFill>
                  <a:srgbClr val="9097AB"/>
                </a:solidFill>
                <a:latin typeface="Aptos"/>
              </a:defRPr>
            </a:pPr>
            <a:r>
              <a:t>STRATEGY CONCEPT • SYNTHETIC DEMO • PILOT HYPOTHESES REQUIRE VALIDATION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